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1509581-cd3a-ed78-b755-36d3ff0a98a8}">
          <p14:sldIdLst>
            <p14:sldId id="256"/>
            <p14:sldId id="257"/>
          </p14:sldIdLst>
        </p14:section>
        <p14:section name="Design" id="{2c8e5ff3-dc54-b731-f38a-45ea61495650}">
          <p14:sldIdLst>
            <p14:sldId id="258"/>
            <p14:sldId id="259"/>
            <p14:sldId id="260"/>
          </p14:sldIdLst>
        </p14:section>
        <p14:section name="Demo" id="{f0c5cb46-8c4f-145f-924c-f997e2d148cb}">
          <p14:sldIdLst>
            <p14:sldId id="261"/>
            <p14:sldId id="262"/>
            <p14:sldId id="263"/>
            <p14:sldId id="264"/>
            <p14:sldId id="265"/>
          </p14:sldIdLst>
        </p14:section>
        <p14:section name="Wrap-up" id="{288ce727-4d10-d805-131e-44ddded085b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Amna and my student ID is ET-FSD-AB-07. This is my project for ME Technologies: a complete website with an admin panel. My advanced module is Module 1, the smart quote form with a solar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 Technologies is an engineering consultancy and training company. The website has two goals: bring in consulting clients, and enroll students in training. Every page I built serves one of these two goals. The company works in six areas, shown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frontend I used React with Tailwind CSS, so I could reuse components like the lead form. The backend is Node.js with Express and a REST API. Data is stored in MongoDB. Admin login uses JWT and bcrypt, and all secrets stay in the env file, not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sitemap. The top part is the public website: eight pages, and the services, training, projects and blog pages each have a detail page. The bottom part is the admin panel. It needs a login, and from there the admin manages leads, enrollments and all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eight collections. The main relations are in the bottom row: a batch belongs to a course, and an enrollment points to both a course and a batch. When someone enrolls, the seat count of the batch goes up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It has the hero with the company tagline, the animated counters, the six service cards, which come from the database, and the latest blog posts. The green WhatsApp button is on every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inner pages. On the left is a training course page. It shows the outline, the tools, the fee and the batches. A student can enroll from here. On the right is the result of my smart quote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is responsive. This screenshot is from the Chrome device mode. On a phone the menu becomes a hamburger button and the sections stack in one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admin panel. The admin logs in first. Then the leads table shows every form submission, and the admin can search, filter and change the status. The admin can also add, edit and delete content, and the public website updates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advanced module is the smart quote form. The customer answers questions in three steps. The site then shows the system size in kilowatts, the number of panels, the roof area, and rough monthly savings. All the formula values are in one config file, so they are easy to change. Each submission is saved as a lead and appears in the admin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had a short timeline, so I reused code: one CRUD helper on the server and one CrudPage component in the admin. At the start my folder was not a Git repository, so I fixed that and checked that the env file with my database password never went to GitHub. I learned REST APIs, JWT login, MongoDB and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links to my GitHub repository and to the demo video. Thank you.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017520" y="1005840"/>
            <a:ext cx="5669280" cy="137160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tmp/claude-0/-home-claude/691e65d7-e603-5ab7-8627-d55b669dd749/scratchpad/ppt/assets/logo.jpeg">    </p:cNvPr>
          <p:cNvPicPr>
            <a:picLocks noChangeAspect="1"/>
          </p:cNvPicPr>
          <p:nvPr/>
        </p:nvPicPr>
        <p:blipFill>
          <a:blip r:embed="rId1"/>
          <a:stretch>
            <a:fillRect/>
          </a:stretch>
        </p:blipFill>
        <p:spPr>
          <a:xfrm>
            <a:off x="8046720" y="228600"/>
            <a:ext cx="640080" cy="640080"/>
          </a:xfrm>
          <a:prstGeom prst="rect">
            <a:avLst/>
          </a:prstGeom>
        </p:spPr>
      </p:pic>
      <p:sp>
        <p:nvSpPr>
          <p:cNvPr id="3" name="Text 0"/>
          <p:cNvSpPr/>
          <p:nvPr>
            <p:ph idx="101" type="title" hasCustomPrompt="1"/>
          </p:nvPr>
        </p:nvSpPr>
        <p:spPr>
          <a:xfrm>
            <a:off x="457200" y="274320"/>
            <a:ext cx="7406640" cy="68580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ME Technologies Website | Codesaviours E-Training Internship 2026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tmp/claude-0/-home-claude/691e65d7-e603-5ab7-8627-d55b669dd749/scratchpad/ppt/assets/logo.jpeg">    </p:cNvPr>
          <p:cNvPicPr>
            <a:picLocks noChangeAspect="1"/>
          </p:cNvPicPr>
          <p:nvPr/>
        </p:nvPicPr>
        <p:blipFill>
          <a:blip r:embed="rId1"/>
          <a:stretch>
            <a:fillRect/>
          </a:stretch>
        </p:blipFill>
        <p:spPr>
          <a:xfrm>
            <a:off x="8046720" y="228600"/>
            <a:ext cx="640080" cy="640080"/>
          </a:xfrm>
          <a:prstGeom prst="rect">
            <a:avLst/>
          </a:prstGeom>
        </p:spPr>
      </p:pic>
      <p:sp>
        <p:nvSpPr>
          <p:cNvPr id="3" name="Text 0"/>
          <p:cNvSpPr/>
          <p:nvPr>
            <p:ph idx="101" type="title" hasCustomPrompt="1"/>
          </p:nvPr>
        </p:nvSpPr>
        <p:spPr>
          <a:xfrm>
            <a:off x="457200" y="274320"/>
            <a:ext cx="7406640" cy="685800"/>
          </a:xfrm>
          <a:prstGeom prst="rect">
            <a:avLst/>
          </a:prstGeom>
          <a:noFill/>
          <a:ln/>
        </p:spPr>
        <p:txBody>
          <a:bodyPr wrap="square" rtlCol="0"/>
          <a:lstStyle>
            <a:lvl1pPr algn="l" indent="0" marL="0">
              <a:buNone/>
              <a:defRPr lang="en-US" sz="3400" b="1" dirty="0">
                <a:solidFill>
                  <a:schemeClr val="bg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ME Technologies Website | Codesaviours E-Training Internship 2026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amna-butt-code/codesaviours-ETraining-ET-FSD-AB-07-METechWebsite" TargetMode="External"/><Relationship Id="rId2" Type="http://schemas.openxmlformats.org/officeDocument/2006/relationships/hyperlink" Target="https://github.com/amna-butt-code/codesaviours-ETraining-ET-FSD-AB-07-METechWebsite/tree/main/demo" TargetMode="External"/><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ME Technologies logo">    </p:cNvPr>
          <p:cNvPicPr>
            <a:picLocks noChangeAspect="1"/>
          </p:cNvPicPr>
          <p:nvPr/>
        </p:nvPicPr>
        <p:blipFill>
          <a:blip r:embed="rId1"/>
          <a:stretch>
            <a:fillRect/>
          </a:stretch>
        </p:blipFill>
        <p:spPr>
          <a:xfrm>
            <a:off x="548640" y="1188720"/>
            <a:ext cx="2103120" cy="2103120"/>
          </a:xfrm>
          <a:prstGeom prst="rect">
            <a:avLst/>
          </a:prstGeom>
        </p:spPr>
      </p:pic>
      <p:sp>
        <p:nvSpPr>
          <p:cNvPr id="3" name="Text 0"/>
          <p:cNvSpPr/>
          <p:nvPr>
            <p:ph idx="100" type="title" hasCustomPrompt="1"/>
          </p:nvPr>
        </p:nvSpPr>
        <p:spPr>
          <a:xfrm>
            <a:off x="3017520" y="1005840"/>
            <a:ext cx="5669280" cy="1371600"/>
          </a:xfrm>
          <a:prstGeom prst="rect">
            <a:avLst/>
          </a:prstGeom>
          <a:noFill/>
          <a:ln/>
        </p:spPr>
        <p:txBody>
          <a:bodyPr wrap="square" lIns="0" tIns="0" rIns="0" bIns="0" rtlCol="0" anchor="t"/>
          <a:lstStyle/>
          <a:p>
            <a:pPr algn="l" indent="0" marL="0">
              <a:buNone/>
            </a:pPr>
            <a:r>
              <a:rPr lang="en-US" sz="3600" b="1" dirty="0">
                <a:solidFill>
                  <a:schemeClr val="bg1"/>
                </a:solidFill>
                <a:latin typeface="Arial" pitchFamily="34" charset="0"/>
                <a:ea typeface="Arial" pitchFamily="34" charset="-122"/>
                <a:cs typeface="Arial" pitchFamily="34" charset="-120"/>
              </a:rPr>
              <a:t>ME Technologies Website and Admin Panel</a:t>
            </a:r>
            <a:endParaRPr lang="en-US" sz="3600" dirty="0"/>
          </a:p>
        </p:txBody>
      </p:sp>
      <p:sp>
        <p:nvSpPr>
          <p:cNvPr id="4" name="Tagline"/>
          <p:cNvSpPr txBox="1"/>
          <p:nvPr/>
        </p:nvSpPr>
        <p:spPr>
          <a:xfrm>
            <a:off x="3017520" y="2514600"/>
            <a:ext cx="5669280" cy="365760"/>
          </a:xfrm>
          <a:prstGeom prst="rect">
            <a:avLst/>
          </a:prstGeom>
          <a:noFill/>
          <a:ln/>
        </p:spPr>
        <p:txBody>
          <a:bodyPr wrap="square" lIns="0" tIns="0" rIns="0" bIns="0" rtlCol="0" anchor="t"/>
          <a:lstStyle/>
          <a:p>
            <a:pPr indent="0" marL="0">
              <a:buNone/>
            </a:pPr>
            <a:r>
              <a:rPr lang="en-US" sz="1600" i="1" dirty="0">
                <a:solidFill>
                  <a:schemeClr val="accent2"/>
                </a:solidFill>
                <a:latin typeface="Calibri" pitchFamily="34" charset="0"/>
                <a:ea typeface="Calibri" pitchFamily="34" charset="-122"/>
                <a:cs typeface="Calibri" pitchFamily="34" charset="-120"/>
              </a:rPr>
              <a:t>Smart Engineering Today. Sustainable Tomorrow.</a:t>
            </a:r>
            <a:endParaRPr lang="en-US" sz="1600" dirty="0"/>
          </a:p>
        </p:txBody>
      </p:sp>
      <p:sp>
        <p:nvSpPr>
          <p:cNvPr id="5" name="Student details"/>
          <p:cNvSpPr txBox="1"/>
          <p:nvPr/>
        </p:nvSpPr>
        <p:spPr>
          <a:xfrm>
            <a:off x="3017520" y="3108960"/>
            <a:ext cx="566928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latin typeface="Calibri" pitchFamily="34" charset="0"/>
                <a:ea typeface="Calibri" pitchFamily="34" charset="-122"/>
                <a:cs typeface="Calibri" pitchFamily="34" charset="-120"/>
              </a:rPr>
              <a:t>Name: </a:t>
            </a:r>
            <a:pPr indent="0" marL="0">
              <a:spcAft>
                <a:spcPts val="400"/>
              </a:spcAft>
              <a:buNone/>
            </a:pPr>
            <a:r>
              <a:rPr lang="en-US" sz="1600" dirty="0">
                <a:solidFill>
                  <a:schemeClr val="bg1"/>
                </a:solidFill>
                <a:latin typeface="Calibri" pitchFamily="34" charset="0"/>
                <a:ea typeface="Calibri" pitchFamily="34" charset="-122"/>
                <a:cs typeface="Calibri" pitchFamily="34" charset="-120"/>
              </a:rPr>
              <a:t>Amna</a:t>
            </a:r>
            <a:endParaRPr lang="en-US" sz="1600" dirty="0"/>
          </a:p>
          <a:p>
            <a:pPr indent="0" marL="0">
              <a:spcAft>
                <a:spcPts val="400"/>
              </a:spcAft>
              <a:buNone/>
            </a:pPr>
            <a:r>
              <a:rPr lang="en-US" sz="1600" b="1" dirty="0">
                <a:solidFill>
                  <a:schemeClr val="accent2"/>
                </a:solidFill>
                <a:latin typeface="Calibri" pitchFamily="34" charset="0"/>
                <a:ea typeface="Calibri" pitchFamily="34" charset="-122"/>
                <a:cs typeface="Calibri" pitchFamily="34" charset="-120"/>
              </a:rPr>
              <a:t>Student ID: </a:t>
            </a:r>
            <a:pPr indent="0" marL="0">
              <a:spcAft>
                <a:spcPts val="400"/>
              </a:spcAft>
              <a:buNone/>
            </a:pPr>
            <a:r>
              <a:rPr lang="en-US" sz="1600" dirty="0">
                <a:solidFill>
                  <a:schemeClr val="bg1"/>
                </a:solidFill>
                <a:latin typeface="Calibri" pitchFamily="34" charset="0"/>
                <a:ea typeface="Calibri" pitchFamily="34" charset="-122"/>
                <a:cs typeface="Calibri" pitchFamily="34" charset="-120"/>
              </a:rPr>
              <a:t>ET-FSD-AB-07</a:t>
            </a:r>
            <a:endParaRPr lang="en-US" sz="1600" dirty="0"/>
          </a:p>
          <a:p>
            <a:pPr indent="0" marL="0">
              <a:spcAft>
                <a:spcPts val="400"/>
              </a:spcAft>
              <a:buNone/>
            </a:pPr>
            <a:r>
              <a:rPr lang="en-US" sz="1600" b="1" dirty="0">
                <a:solidFill>
                  <a:schemeClr val="accent2"/>
                </a:solidFill>
                <a:latin typeface="Calibri" pitchFamily="34" charset="0"/>
                <a:ea typeface="Calibri" pitchFamily="34" charset="-122"/>
                <a:cs typeface="Calibri" pitchFamily="34" charset="-120"/>
              </a:rPr>
              <a:t>Advanced module: </a:t>
            </a:r>
            <a:pPr indent="0" marL="0">
              <a:spcAft>
                <a:spcPts val="400"/>
              </a:spcAft>
              <a:buNone/>
            </a:pPr>
            <a:r>
              <a:rPr lang="en-US" sz="1600" dirty="0">
                <a:solidFill>
                  <a:schemeClr val="bg1"/>
                </a:solidFill>
                <a:latin typeface="Calibri" pitchFamily="34" charset="0"/>
                <a:ea typeface="Calibri" pitchFamily="34" charset="-122"/>
                <a:cs typeface="Calibri" pitchFamily="34" charset="-120"/>
              </a:rPr>
              <a:t>Module 1, smart quote form</a:t>
            </a:r>
            <a:endParaRPr lang="en-US" sz="1600" dirty="0"/>
          </a:p>
          <a:p>
            <a:pPr indent="0" marL="0">
              <a:spcAft>
                <a:spcPts val="400"/>
              </a:spcAft>
              <a:buNone/>
            </a:pPr>
            <a:r>
              <a:rPr lang="en-US" sz="1600" b="1" dirty="0">
                <a:solidFill>
                  <a:schemeClr val="accent2"/>
                </a:solidFill>
                <a:latin typeface="Calibri" pitchFamily="34" charset="0"/>
                <a:ea typeface="Calibri" pitchFamily="34" charset="-122"/>
                <a:cs typeface="Calibri" pitchFamily="34" charset="-120"/>
              </a:rPr>
              <a:t>Date: </a:t>
            </a:r>
            <a:pPr indent="0" marL="0">
              <a:spcAft>
                <a:spcPts val="400"/>
              </a:spcAft>
              <a:buNone/>
            </a:pPr>
            <a:r>
              <a:rPr lang="en-US" sz="1600" dirty="0">
                <a:solidFill>
                  <a:schemeClr val="bg1"/>
                </a:solidFill>
                <a:latin typeface="Calibri" pitchFamily="34" charset="0"/>
                <a:ea typeface="Calibri" pitchFamily="34" charset="-122"/>
                <a:cs typeface="Calibri" pitchFamily="34" charset="-120"/>
              </a:rPr>
              <a:t>17 October 2026</a:t>
            </a:r>
            <a:endParaRPr lang="en-US" sz="1600" dirty="0"/>
          </a:p>
        </p:txBody>
      </p:sp>
      <p:sp>
        <p:nvSpPr>
          <p:cNvPr id="6" name="Programme"/>
          <p:cNvSpPr txBox="1"/>
          <p:nvPr/>
        </p:nvSpPr>
        <p:spPr>
          <a:xfrm>
            <a:off x="548640" y="4617720"/>
            <a:ext cx="8138160" cy="2743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Codesaviours E-Training | Internship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Client and goal</a:t>
            </a:r>
            <a:endParaRPr lang="en-US" sz="3400" dirty="0"/>
          </a:p>
        </p:txBody>
      </p:sp>
      <p:sp>
        <p:nvSpPr>
          <p:cNvPr id="3" name="Intro"/>
          <p:cNvSpPr txBox="1"/>
          <p:nvPr/>
        </p:nvSpPr>
        <p:spPr>
          <a:xfrm>
            <a:off x="457200" y="1051560"/>
            <a:ext cx="8229600" cy="50292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ME Technologies is an engineering consultancy and training company. The website has two business goals.</a:t>
            </a:r>
            <a:endParaRPr lang="en-US" sz="1600" dirty="0"/>
          </a:p>
        </p:txBody>
      </p:sp>
      <p:sp>
        <p:nvSpPr>
          <p:cNvPr id="4" name="Goal card 1"/>
          <p:cNvSpPr/>
          <p:nvPr/>
        </p:nvSpPr>
        <p:spPr>
          <a:xfrm>
            <a:off x="457200" y="1691640"/>
            <a:ext cx="4023360" cy="1417320"/>
          </a:xfrm>
          <a:prstGeom prst="roundRect">
            <a:avLst>
              <a:gd name="adj" fmla="val 5161"/>
            </a:avLst>
          </a:prstGeom>
          <a:solidFill>
            <a:schemeClr val="bg2"/>
          </a:solidFill>
          <a:ln/>
        </p:spPr>
      </p:sp>
      <p:sp>
        <p:nvSpPr>
          <p:cNvPr id="5" name="Goal 1 circle"/>
          <p:cNvSpPr/>
          <p:nvPr/>
        </p:nvSpPr>
        <p:spPr>
          <a:xfrm>
            <a:off x="685800" y="2103120"/>
            <a:ext cx="640080" cy="640080"/>
          </a:xfrm>
          <a:prstGeom prst="ellipse">
            <a:avLst/>
          </a:prstGeom>
          <a:solidFill>
            <a:schemeClr val="accent1"/>
          </a:solidFill>
          <a:ln/>
        </p:spPr>
      </p:sp>
      <p:pic>
        <p:nvPicPr>
          <p:cNvPr id="6" name="Goal 1 icon" descr="Goal 1">    </p:cNvPr>
          <p:cNvPicPr>
            <a:picLocks noChangeAspect="1"/>
          </p:cNvPicPr>
          <p:nvPr/>
        </p:nvPicPr>
        <p:blipFill>
          <a:blip r:embed="rId1"/>
          <a:stretch>
            <a:fillRect/>
          </a:stretch>
        </p:blipFill>
        <p:spPr>
          <a:xfrm>
            <a:off x="845820" y="2263140"/>
            <a:ext cx="320040" cy="320040"/>
          </a:xfrm>
          <a:prstGeom prst="rect">
            <a:avLst/>
          </a:prstGeom>
        </p:spPr>
      </p:pic>
      <p:sp>
        <p:nvSpPr>
          <p:cNvPr id="7" name="Goal title 1"/>
          <p:cNvSpPr txBox="1"/>
          <p:nvPr/>
        </p:nvSpPr>
        <p:spPr>
          <a:xfrm>
            <a:off x="1508760" y="1920240"/>
            <a:ext cx="278892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Win consulting clients</a:t>
            </a:r>
            <a:endParaRPr lang="en-US" sz="1600" dirty="0"/>
          </a:p>
        </p:txBody>
      </p:sp>
      <p:sp>
        <p:nvSpPr>
          <p:cNvPr id="8" name="Goal text 1"/>
          <p:cNvSpPr txBox="1"/>
          <p:nvPr/>
        </p:nvSpPr>
        <p:spPr>
          <a:xfrm>
            <a:off x="1508760" y="2286000"/>
            <a:ext cx="278892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Service pages, the quote form and the contact form turn visitors into leads.</a:t>
            </a:r>
            <a:endParaRPr lang="en-US" sz="1400" dirty="0"/>
          </a:p>
        </p:txBody>
      </p:sp>
      <p:sp>
        <p:nvSpPr>
          <p:cNvPr id="9" name="Goal card 2"/>
          <p:cNvSpPr/>
          <p:nvPr/>
        </p:nvSpPr>
        <p:spPr>
          <a:xfrm>
            <a:off x="4663440" y="1691640"/>
            <a:ext cx="4023360" cy="1417320"/>
          </a:xfrm>
          <a:prstGeom prst="roundRect">
            <a:avLst>
              <a:gd name="adj" fmla="val 5161"/>
            </a:avLst>
          </a:prstGeom>
          <a:solidFill>
            <a:schemeClr val="bg2"/>
          </a:solidFill>
          <a:ln/>
        </p:spPr>
      </p:sp>
      <p:sp>
        <p:nvSpPr>
          <p:cNvPr id="10" name="Goal 2 circle"/>
          <p:cNvSpPr/>
          <p:nvPr/>
        </p:nvSpPr>
        <p:spPr>
          <a:xfrm>
            <a:off x="4892040" y="2103120"/>
            <a:ext cx="640080" cy="640080"/>
          </a:xfrm>
          <a:prstGeom prst="ellipse">
            <a:avLst/>
          </a:prstGeom>
          <a:solidFill>
            <a:schemeClr val="accent1"/>
          </a:solidFill>
          <a:ln/>
        </p:spPr>
      </p:sp>
      <p:pic>
        <p:nvPicPr>
          <p:cNvPr id="11" name="Goal 2 icon" descr="Goal 2">    </p:cNvPr>
          <p:cNvPicPr>
            <a:picLocks noChangeAspect="1"/>
          </p:cNvPicPr>
          <p:nvPr/>
        </p:nvPicPr>
        <p:blipFill>
          <a:blip r:embed="rId2"/>
          <a:stretch>
            <a:fillRect/>
          </a:stretch>
        </p:blipFill>
        <p:spPr>
          <a:xfrm>
            <a:off x="5052060" y="2263140"/>
            <a:ext cx="320040" cy="320040"/>
          </a:xfrm>
          <a:prstGeom prst="rect">
            <a:avLst/>
          </a:prstGeom>
        </p:spPr>
      </p:pic>
      <p:sp>
        <p:nvSpPr>
          <p:cNvPr id="12" name="Goal title 2"/>
          <p:cNvSpPr txBox="1"/>
          <p:nvPr/>
        </p:nvSpPr>
        <p:spPr>
          <a:xfrm>
            <a:off x="5715000" y="1920240"/>
            <a:ext cx="278892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Enroll students</a:t>
            </a:r>
            <a:endParaRPr lang="en-US" sz="1600" dirty="0"/>
          </a:p>
        </p:txBody>
      </p:sp>
      <p:sp>
        <p:nvSpPr>
          <p:cNvPr id="13" name="Goal text 2"/>
          <p:cNvSpPr txBox="1"/>
          <p:nvPr/>
        </p:nvSpPr>
        <p:spPr>
          <a:xfrm>
            <a:off x="5715000" y="2286000"/>
            <a:ext cx="278892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Training pages, batches with seats left and an enroll form.</a:t>
            </a:r>
            <a:endParaRPr lang="en-US" sz="1400" dirty="0"/>
          </a:p>
        </p:txBody>
      </p:sp>
      <p:sp>
        <p:nvSpPr>
          <p:cNvPr id="14" name="Areas heading"/>
          <p:cNvSpPr txBox="1"/>
          <p:nvPr/>
        </p:nvSpPr>
        <p:spPr>
          <a:xfrm>
            <a:off x="457200" y="3291840"/>
            <a:ext cx="822960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Six consulting areas</a:t>
            </a:r>
            <a:endParaRPr lang="en-US" sz="1600" dirty="0"/>
          </a:p>
        </p:txBody>
      </p:sp>
      <p:sp>
        <p:nvSpPr>
          <p:cNvPr id="15" name="Area 1"/>
          <p:cNvSpPr/>
          <p:nvPr/>
        </p:nvSpPr>
        <p:spPr>
          <a:xfrm>
            <a:off x="457200" y="3657600"/>
            <a:ext cx="2651760" cy="365760"/>
          </a:xfrm>
          <a:prstGeom prst="roundRect">
            <a:avLst>
              <a:gd name="adj" fmla="val 20000"/>
            </a:avLst>
          </a:prstGeom>
          <a:solidFill>
            <a:schemeClr val="accent1"/>
          </a:solidFill>
          <a:ln/>
        </p:spPr>
      </p:sp>
      <p:sp>
        <p:nvSpPr>
          <p:cNvPr id="16" name="Area label 1"/>
          <p:cNvSpPr txBox="1"/>
          <p:nvPr/>
        </p:nvSpPr>
        <p:spPr>
          <a:xfrm>
            <a:off x="457200" y="365760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Electrical Engineering</a:t>
            </a:r>
            <a:endParaRPr lang="en-US" sz="1200" dirty="0"/>
          </a:p>
        </p:txBody>
      </p:sp>
      <p:sp>
        <p:nvSpPr>
          <p:cNvPr id="17" name="Area 2"/>
          <p:cNvSpPr/>
          <p:nvPr/>
        </p:nvSpPr>
        <p:spPr>
          <a:xfrm>
            <a:off x="3246120" y="3657600"/>
            <a:ext cx="2651760" cy="365760"/>
          </a:xfrm>
          <a:prstGeom prst="roundRect">
            <a:avLst>
              <a:gd name="adj" fmla="val 20000"/>
            </a:avLst>
          </a:prstGeom>
          <a:solidFill>
            <a:schemeClr val="accent1"/>
          </a:solidFill>
          <a:ln/>
        </p:spPr>
      </p:sp>
      <p:sp>
        <p:nvSpPr>
          <p:cNvPr id="18" name="Area label 2"/>
          <p:cNvSpPr txBox="1"/>
          <p:nvPr/>
        </p:nvSpPr>
        <p:spPr>
          <a:xfrm>
            <a:off x="3246120" y="365760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Solar PV</a:t>
            </a:r>
            <a:endParaRPr lang="en-US" sz="1200" dirty="0"/>
          </a:p>
        </p:txBody>
      </p:sp>
      <p:sp>
        <p:nvSpPr>
          <p:cNvPr id="19" name="Area 3"/>
          <p:cNvSpPr/>
          <p:nvPr/>
        </p:nvSpPr>
        <p:spPr>
          <a:xfrm>
            <a:off x="6035040" y="3657600"/>
            <a:ext cx="2651760" cy="365760"/>
          </a:xfrm>
          <a:prstGeom prst="roundRect">
            <a:avLst>
              <a:gd name="adj" fmla="val 20000"/>
            </a:avLst>
          </a:prstGeom>
          <a:solidFill>
            <a:schemeClr val="accent1"/>
          </a:solidFill>
          <a:ln/>
        </p:spPr>
      </p:sp>
      <p:sp>
        <p:nvSpPr>
          <p:cNvPr id="20" name="Area label 3"/>
          <p:cNvSpPr txBox="1"/>
          <p:nvPr/>
        </p:nvSpPr>
        <p:spPr>
          <a:xfrm>
            <a:off x="6035040" y="365760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BESS</a:t>
            </a:r>
            <a:endParaRPr lang="en-US" sz="1200" dirty="0"/>
          </a:p>
        </p:txBody>
      </p:sp>
      <p:sp>
        <p:nvSpPr>
          <p:cNvPr id="21" name="Area 4"/>
          <p:cNvSpPr/>
          <p:nvPr/>
        </p:nvSpPr>
        <p:spPr>
          <a:xfrm>
            <a:off x="457200" y="4114800"/>
            <a:ext cx="2651760" cy="365760"/>
          </a:xfrm>
          <a:prstGeom prst="roundRect">
            <a:avLst>
              <a:gd name="adj" fmla="val 20000"/>
            </a:avLst>
          </a:prstGeom>
          <a:solidFill>
            <a:schemeClr val="accent1"/>
          </a:solidFill>
          <a:ln/>
        </p:spPr>
      </p:sp>
      <p:sp>
        <p:nvSpPr>
          <p:cNvPr id="22" name="Area label 4"/>
          <p:cNvSpPr txBox="1"/>
          <p:nvPr/>
        </p:nvSpPr>
        <p:spPr>
          <a:xfrm>
            <a:off x="457200" y="411480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EV Charging</a:t>
            </a:r>
            <a:endParaRPr lang="en-US" sz="1200" dirty="0"/>
          </a:p>
        </p:txBody>
      </p:sp>
      <p:sp>
        <p:nvSpPr>
          <p:cNvPr id="23" name="Area 5"/>
          <p:cNvSpPr/>
          <p:nvPr/>
        </p:nvSpPr>
        <p:spPr>
          <a:xfrm>
            <a:off x="3246120" y="4114800"/>
            <a:ext cx="2651760" cy="365760"/>
          </a:xfrm>
          <a:prstGeom prst="roundRect">
            <a:avLst>
              <a:gd name="adj" fmla="val 20000"/>
            </a:avLst>
          </a:prstGeom>
          <a:solidFill>
            <a:schemeClr val="accent1"/>
          </a:solidFill>
          <a:ln/>
        </p:spPr>
      </p:sp>
      <p:sp>
        <p:nvSpPr>
          <p:cNvPr id="24" name="Area label 5"/>
          <p:cNvSpPr txBox="1"/>
          <p:nvPr/>
        </p:nvSpPr>
        <p:spPr>
          <a:xfrm>
            <a:off x="3246120" y="411480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Architecture and Building Design</a:t>
            </a:r>
            <a:endParaRPr lang="en-US" sz="1200" dirty="0"/>
          </a:p>
        </p:txBody>
      </p:sp>
      <p:sp>
        <p:nvSpPr>
          <p:cNvPr id="25" name="Area 6"/>
          <p:cNvSpPr/>
          <p:nvPr/>
        </p:nvSpPr>
        <p:spPr>
          <a:xfrm>
            <a:off x="6035040" y="4114800"/>
            <a:ext cx="2651760" cy="365760"/>
          </a:xfrm>
          <a:prstGeom prst="roundRect">
            <a:avLst>
              <a:gd name="adj" fmla="val 20000"/>
            </a:avLst>
          </a:prstGeom>
          <a:solidFill>
            <a:schemeClr val="accent1"/>
          </a:solidFill>
          <a:ln/>
        </p:spPr>
      </p:sp>
      <p:sp>
        <p:nvSpPr>
          <p:cNvPr id="26" name="Area label 6"/>
          <p:cNvSpPr txBox="1"/>
          <p:nvPr/>
        </p:nvSpPr>
        <p:spPr>
          <a:xfrm>
            <a:off x="6035040" y="411480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Civil and Structural Engineering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Tech stack</a:t>
            </a:r>
            <a:endParaRPr lang="en-US" sz="3400" dirty="0"/>
          </a:p>
        </p:txBody>
      </p:sp>
      <p:sp>
        <p:nvSpPr>
          <p:cNvPr id="3" name="Stack card 1"/>
          <p:cNvSpPr/>
          <p:nvPr/>
        </p:nvSpPr>
        <p:spPr>
          <a:xfrm>
            <a:off x="457200" y="1188720"/>
            <a:ext cx="1920240" cy="3246120"/>
          </a:xfrm>
          <a:prstGeom prst="roundRect">
            <a:avLst>
              <a:gd name="adj" fmla="val 3810"/>
            </a:avLst>
          </a:prstGeom>
          <a:solidFill>
            <a:schemeClr val="bg2"/>
          </a:solidFill>
          <a:ln/>
        </p:spPr>
      </p:sp>
      <p:sp>
        <p:nvSpPr>
          <p:cNvPr id="4" name="Frontend circle"/>
          <p:cNvSpPr/>
          <p:nvPr/>
        </p:nvSpPr>
        <p:spPr>
          <a:xfrm>
            <a:off x="640080" y="1371600"/>
            <a:ext cx="640080" cy="640080"/>
          </a:xfrm>
          <a:prstGeom prst="ellipse">
            <a:avLst/>
          </a:prstGeom>
          <a:solidFill>
            <a:schemeClr val="accent1"/>
          </a:solidFill>
          <a:ln/>
        </p:spPr>
      </p:sp>
      <p:pic>
        <p:nvPicPr>
          <p:cNvPr id="5" name="Frontend icon" descr="Frontend">    </p:cNvPr>
          <p:cNvPicPr>
            <a:picLocks noChangeAspect="1"/>
          </p:cNvPicPr>
          <p:nvPr/>
        </p:nvPicPr>
        <p:blipFill>
          <a:blip r:embed="rId1"/>
          <a:stretch>
            <a:fillRect/>
          </a:stretch>
        </p:blipFill>
        <p:spPr>
          <a:xfrm>
            <a:off x="800100" y="1531620"/>
            <a:ext cx="320040" cy="320040"/>
          </a:xfrm>
          <a:prstGeom prst="rect">
            <a:avLst/>
          </a:prstGeom>
        </p:spPr>
      </p:pic>
      <p:sp>
        <p:nvSpPr>
          <p:cNvPr id="6" name="Frontend heading"/>
          <p:cNvSpPr txBox="1"/>
          <p:nvPr/>
        </p:nvSpPr>
        <p:spPr>
          <a:xfrm>
            <a:off x="640080" y="2148840"/>
            <a:ext cx="155448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Frontend</a:t>
            </a:r>
            <a:endParaRPr lang="en-US" sz="1800" dirty="0"/>
          </a:p>
        </p:txBody>
      </p:sp>
      <p:sp>
        <p:nvSpPr>
          <p:cNvPr id="7" name="Frontend items"/>
          <p:cNvSpPr txBox="1"/>
          <p:nvPr/>
        </p:nvSpPr>
        <p:spPr>
          <a:xfrm>
            <a:off x="640080" y="2560320"/>
            <a:ext cx="1600200" cy="960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React with Vite</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React Router</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Tailwind CSS</a:t>
            </a:r>
            <a:endParaRPr lang="en-US" sz="1400" dirty="0"/>
          </a:p>
        </p:txBody>
      </p:sp>
      <p:sp>
        <p:nvSpPr>
          <p:cNvPr id="8" name="Frontend why"/>
          <p:cNvSpPr txBox="1"/>
          <p:nvPr/>
        </p:nvSpPr>
        <p:spPr>
          <a:xfrm>
            <a:off x="640080" y="3611880"/>
            <a:ext cx="1554480" cy="73152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Reusable components keep pages consistent and fast to build</a:t>
            </a:r>
            <a:endParaRPr lang="en-US" sz="1200" dirty="0"/>
          </a:p>
        </p:txBody>
      </p:sp>
      <p:sp>
        <p:nvSpPr>
          <p:cNvPr id="9" name="Stack card 2"/>
          <p:cNvSpPr/>
          <p:nvPr/>
        </p:nvSpPr>
        <p:spPr>
          <a:xfrm>
            <a:off x="2560320" y="1188720"/>
            <a:ext cx="1920240" cy="3246120"/>
          </a:xfrm>
          <a:prstGeom prst="roundRect">
            <a:avLst>
              <a:gd name="adj" fmla="val 3810"/>
            </a:avLst>
          </a:prstGeom>
          <a:solidFill>
            <a:schemeClr val="bg2"/>
          </a:solidFill>
          <a:ln/>
        </p:spPr>
      </p:sp>
      <p:sp>
        <p:nvSpPr>
          <p:cNvPr id="10" name="Backend circle"/>
          <p:cNvSpPr/>
          <p:nvPr/>
        </p:nvSpPr>
        <p:spPr>
          <a:xfrm>
            <a:off x="2743200" y="1371600"/>
            <a:ext cx="640080" cy="640080"/>
          </a:xfrm>
          <a:prstGeom prst="ellipse">
            <a:avLst/>
          </a:prstGeom>
          <a:solidFill>
            <a:schemeClr val="accent1"/>
          </a:solidFill>
          <a:ln/>
        </p:spPr>
      </p:sp>
      <p:pic>
        <p:nvPicPr>
          <p:cNvPr id="11" name="Backend icon" descr="Backend">    </p:cNvPr>
          <p:cNvPicPr>
            <a:picLocks noChangeAspect="1"/>
          </p:cNvPicPr>
          <p:nvPr/>
        </p:nvPicPr>
        <p:blipFill>
          <a:blip r:embed="rId2"/>
          <a:stretch>
            <a:fillRect/>
          </a:stretch>
        </p:blipFill>
        <p:spPr>
          <a:xfrm>
            <a:off x="2903220" y="1531620"/>
            <a:ext cx="320040" cy="320040"/>
          </a:xfrm>
          <a:prstGeom prst="rect">
            <a:avLst/>
          </a:prstGeom>
        </p:spPr>
      </p:pic>
      <p:sp>
        <p:nvSpPr>
          <p:cNvPr id="12" name="Backend heading"/>
          <p:cNvSpPr txBox="1"/>
          <p:nvPr/>
        </p:nvSpPr>
        <p:spPr>
          <a:xfrm>
            <a:off x="2743200" y="2148840"/>
            <a:ext cx="155448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Backend</a:t>
            </a:r>
            <a:endParaRPr lang="en-US" sz="1800" dirty="0"/>
          </a:p>
        </p:txBody>
      </p:sp>
      <p:sp>
        <p:nvSpPr>
          <p:cNvPr id="13" name="Backend items"/>
          <p:cNvSpPr txBox="1"/>
          <p:nvPr/>
        </p:nvSpPr>
        <p:spPr>
          <a:xfrm>
            <a:off x="2743200" y="2560320"/>
            <a:ext cx="1600200" cy="960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Node.js and Express</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Zod validation</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Multer uploads</a:t>
            </a:r>
            <a:endParaRPr lang="en-US" sz="1400" dirty="0"/>
          </a:p>
        </p:txBody>
      </p:sp>
      <p:sp>
        <p:nvSpPr>
          <p:cNvPr id="14" name="Backend why"/>
          <p:cNvSpPr txBox="1"/>
          <p:nvPr/>
        </p:nvSpPr>
        <p:spPr>
          <a:xfrm>
            <a:off x="2743200" y="3611880"/>
            <a:ext cx="1554480" cy="73152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Simple REST API and one CRUD helper for five resources</a:t>
            </a:r>
            <a:endParaRPr lang="en-US" sz="1200" dirty="0"/>
          </a:p>
        </p:txBody>
      </p:sp>
      <p:sp>
        <p:nvSpPr>
          <p:cNvPr id="15" name="Stack card 3"/>
          <p:cNvSpPr/>
          <p:nvPr/>
        </p:nvSpPr>
        <p:spPr>
          <a:xfrm>
            <a:off x="4663440" y="1188720"/>
            <a:ext cx="1920240" cy="3246120"/>
          </a:xfrm>
          <a:prstGeom prst="roundRect">
            <a:avLst>
              <a:gd name="adj" fmla="val 3810"/>
            </a:avLst>
          </a:prstGeom>
          <a:solidFill>
            <a:schemeClr val="bg2"/>
          </a:solidFill>
          <a:ln/>
        </p:spPr>
      </p:sp>
      <p:sp>
        <p:nvSpPr>
          <p:cNvPr id="16" name="Database circle"/>
          <p:cNvSpPr/>
          <p:nvPr/>
        </p:nvSpPr>
        <p:spPr>
          <a:xfrm>
            <a:off x="4846320" y="1371600"/>
            <a:ext cx="640080" cy="640080"/>
          </a:xfrm>
          <a:prstGeom prst="ellipse">
            <a:avLst/>
          </a:prstGeom>
          <a:solidFill>
            <a:schemeClr val="accent1"/>
          </a:solidFill>
          <a:ln/>
        </p:spPr>
      </p:sp>
      <p:pic>
        <p:nvPicPr>
          <p:cNvPr id="17" name="Database icon" descr="Database">    </p:cNvPr>
          <p:cNvPicPr>
            <a:picLocks noChangeAspect="1"/>
          </p:cNvPicPr>
          <p:nvPr/>
        </p:nvPicPr>
        <p:blipFill>
          <a:blip r:embed="rId3"/>
          <a:stretch>
            <a:fillRect/>
          </a:stretch>
        </p:blipFill>
        <p:spPr>
          <a:xfrm>
            <a:off x="5006340" y="1531620"/>
            <a:ext cx="320040" cy="320040"/>
          </a:xfrm>
          <a:prstGeom prst="rect">
            <a:avLst/>
          </a:prstGeom>
        </p:spPr>
      </p:pic>
      <p:sp>
        <p:nvSpPr>
          <p:cNvPr id="18" name="Database heading"/>
          <p:cNvSpPr txBox="1"/>
          <p:nvPr/>
        </p:nvSpPr>
        <p:spPr>
          <a:xfrm>
            <a:off x="4846320" y="2148840"/>
            <a:ext cx="155448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Database</a:t>
            </a:r>
            <a:endParaRPr lang="en-US" sz="1800" dirty="0"/>
          </a:p>
        </p:txBody>
      </p:sp>
      <p:sp>
        <p:nvSpPr>
          <p:cNvPr id="19" name="Database items"/>
          <p:cNvSpPr txBox="1"/>
          <p:nvPr/>
        </p:nvSpPr>
        <p:spPr>
          <a:xfrm>
            <a:off x="4846320" y="2560320"/>
            <a:ext cx="1600200" cy="960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MongoDB Atlas</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Mongoose</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8 collections</a:t>
            </a:r>
            <a:endParaRPr lang="en-US" sz="1400" dirty="0"/>
          </a:p>
        </p:txBody>
      </p:sp>
      <p:sp>
        <p:nvSpPr>
          <p:cNvPr id="20" name="Database why"/>
          <p:cNvSpPr txBox="1"/>
          <p:nvPr/>
        </p:nvSpPr>
        <p:spPr>
          <a:xfrm>
            <a:off x="4846320" y="3611880"/>
            <a:ext cx="1554480" cy="73152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Flexible documents suit courses, projects and posts</a:t>
            </a:r>
            <a:endParaRPr lang="en-US" sz="1200" dirty="0"/>
          </a:p>
        </p:txBody>
      </p:sp>
      <p:sp>
        <p:nvSpPr>
          <p:cNvPr id="21" name="Stack card 4"/>
          <p:cNvSpPr/>
          <p:nvPr/>
        </p:nvSpPr>
        <p:spPr>
          <a:xfrm>
            <a:off x="6766560" y="1188720"/>
            <a:ext cx="1920240" cy="3246120"/>
          </a:xfrm>
          <a:prstGeom prst="roundRect">
            <a:avLst>
              <a:gd name="adj" fmla="val 3810"/>
            </a:avLst>
          </a:prstGeom>
          <a:solidFill>
            <a:schemeClr val="bg2"/>
          </a:solidFill>
          <a:ln/>
        </p:spPr>
      </p:sp>
      <p:sp>
        <p:nvSpPr>
          <p:cNvPr id="22" name="Security circle"/>
          <p:cNvSpPr/>
          <p:nvPr/>
        </p:nvSpPr>
        <p:spPr>
          <a:xfrm>
            <a:off x="6949440" y="1371600"/>
            <a:ext cx="640080" cy="640080"/>
          </a:xfrm>
          <a:prstGeom prst="ellipse">
            <a:avLst/>
          </a:prstGeom>
          <a:solidFill>
            <a:schemeClr val="accent1"/>
          </a:solidFill>
          <a:ln/>
        </p:spPr>
      </p:sp>
      <p:pic>
        <p:nvPicPr>
          <p:cNvPr id="23" name="Security icon" descr="Security">    </p:cNvPr>
          <p:cNvPicPr>
            <a:picLocks noChangeAspect="1"/>
          </p:cNvPicPr>
          <p:nvPr/>
        </p:nvPicPr>
        <p:blipFill>
          <a:blip r:embed="rId4"/>
          <a:stretch>
            <a:fillRect/>
          </a:stretch>
        </p:blipFill>
        <p:spPr>
          <a:xfrm>
            <a:off x="7109460" y="1531620"/>
            <a:ext cx="320040" cy="320040"/>
          </a:xfrm>
          <a:prstGeom prst="rect">
            <a:avLst/>
          </a:prstGeom>
        </p:spPr>
      </p:pic>
      <p:sp>
        <p:nvSpPr>
          <p:cNvPr id="24" name="Security heading"/>
          <p:cNvSpPr txBox="1"/>
          <p:nvPr/>
        </p:nvSpPr>
        <p:spPr>
          <a:xfrm>
            <a:off x="6949440" y="2148840"/>
            <a:ext cx="155448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Security</a:t>
            </a:r>
            <a:endParaRPr lang="en-US" sz="1800" dirty="0"/>
          </a:p>
        </p:txBody>
      </p:sp>
      <p:sp>
        <p:nvSpPr>
          <p:cNvPr id="25" name="Security items"/>
          <p:cNvSpPr txBox="1"/>
          <p:nvPr/>
        </p:nvSpPr>
        <p:spPr>
          <a:xfrm>
            <a:off x="6949440" y="2560320"/>
            <a:ext cx="1600200" cy="960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JWT admin login</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bcrypt hashing</a:t>
            </a:r>
            <a:endParaRPr lang="en-US" sz="1400" dirty="0"/>
          </a:p>
          <a:p>
            <a:pPr marL="342900" indent="-342900">
              <a:spcAft>
                <a:spcPts val="300"/>
              </a:spcAft>
              <a:buSzPct val="100000"/>
              <a:buChar char="•"/>
            </a:pPr>
            <a:r>
              <a:rPr lang="en-US" sz="1400" dirty="0">
                <a:solidFill>
                  <a:schemeClr val="tx2"/>
                </a:solidFill>
                <a:latin typeface="Calibri" pitchFamily="34" charset="0"/>
                <a:ea typeface="Calibri" pitchFamily="34" charset="-122"/>
                <a:cs typeface="Calibri" pitchFamily="34" charset="-120"/>
              </a:rPr>
              <a:t>Secrets in .env</a:t>
            </a:r>
            <a:endParaRPr lang="en-US" sz="1400" dirty="0"/>
          </a:p>
        </p:txBody>
      </p:sp>
      <p:sp>
        <p:nvSpPr>
          <p:cNvPr id="26" name="Security why"/>
          <p:cNvSpPr txBox="1"/>
          <p:nvPr/>
        </p:nvSpPr>
        <p:spPr>
          <a:xfrm>
            <a:off x="6949440" y="3611880"/>
            <a:ext cx="1554480" cy="73152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Admin routes are protected and no secrets reach GitHub</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Sitemap</a:t>
            </a:r>
            <a:endParaRPr lang="en-US" sz="3400" dirty="0"/>
          </a:p>
        </p:txBody>
      </p:sp>
      <p:sp>
        <p:nvSpPr>
          <p:cNvPr id="3" name="Public root"/>
          <p:cNvSpPr/>
          <p:nvPr/>
        </p:nvSpPr>
        <p:spPr>
          <a:xfrm>
            <a:off x="3429000" y="1097280"/>
            <a:ext cx="2286000" cy="384048"/>
          </a:xfrm>
          <a:prstGeom prst="roundRect">
            <a:avLst>
              <a:gd name="adj" fmla="val 19048"/>
            </a:avLst>
          </a:prstGeom>
          <a:solidFill>
            <a:schemeClr val="tx1"/>
          </a:solidFill>
          <a:ln/>
        </p:spPr>
      </p:sp>
      <p:sp>
        <p:nvSpPr>
          <p:cNvPr id="4" name="Public root label"/>
          <p:cNvSpPr txBox="1"/>
          <p:nvPr/>
        </p:nvSpPr>
        <p:spPr>
          <a:xfrm>
            <a:off x="3429000" y="1097280"/>
            <a:ext cx="228600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Public site (Home)</a:t>
            </a:r>
            <a:endParaRPr lang="en-US" sz="1400" dirty="0"/>
          </a:p>
        </p:txBody>
      </p:sp>
      <p:sp>
        <p:nvSpPr>
          <p:cNvPr id="5" name="Public stem"/>
          <p:cNvSpPr/>
          <p:nvPr/>
        </p:nvSpPr>
        <p:spPr>
          <a:xfrm>
            <a:off x="4572000" y="1481328"/>
            <a:ext cx="0" cy="164592"/>
          </a:xfrm>
          <a:prstGeom prst="line">
            <a:avLst/>
          </a:prstGeom>
          <a:noFill/>
          <a:ln w="19050">
            <a:solidFill>
              <a:schemeClr val="accent4"/>
            </a:solidFill>
            <a:prstDash val="solid"/>
          </a:ln>
        </p:spPr>
      </p:sp>
      <p:sp>
        <p:nvSpPr>
          <p:cNvPr id="6" name="Public bar"/>
          <p:cNvSpPr/>
          <p:nvPr/>
        </p:nvSpPr>
        <p:spPr>
          <a:xfrm>
            <a:off x="914400" y="1645920"/>
            <a:ext cx="7315200" cy="0"/>
          </a:xfrm>
          <a:prstGeom prst="line">
            <a:avLst/>
          </a:prstGeom>
          <a:noFill/>
          <a:ln w="19050">
            <a:solidFill>
              <a:schemeClr val="accent4"/>
            </a:solidFill>
            <a:prstDash val="solid"/>
          </a:ln>
        </p:spPr>
      </p:sp>
      <p:sp>
        <p:nvSpPr>
          <p:cNvPr id="7" name="Public tick 1"/>
          <p:cNvSpPr/>
          <p:nvPr/>
        </p:nvSpPr>
        <p:spPr>
          <a:xfrm>
            <a:off x="914400" y="1645920"/>
            <a:ext cx="0" cy="137160"/>
          </a:xfrm>
          <a:prstGeom prst="line">
            <a:avLst/>
          </a:prstGeom>
          <a:noFill/>
          <a:ln w="19050">
            <a:solidFill>
              <a:schemeClr val="accent4"/>
            </a:solidFill>
            <a:prstDash val="solid"/>
          </a:ln>
        </p:spPr>
      </p:sp>
      <p:sp>
        <p:nvSpPr>
          <p:cNvPr id="8" name="Public About"/>
          <p:cNvSpPr/>
          <p:nvPr/>
        </p:nvSpPr>
        <p:spPr>
          <a:xfrm>
            <a:off x="457200" y="1783080"/>
            <a:ext cx="914400" cy="457200"/>
          </a:xfrm>
          <a:prstGeom prst="roundRect">
            <a:avLst>
              <a:gd name="adj" fmla="val 16000"/>
            </a:avLst>
          </a:prstGeom>
          <a:solidFill>
            <a:schemeClr val="accent1"/>
          </a:solidFill>
          <a:ln/>
        </p:spPr>
      </p:sp>
      <p:sp>
        <p:nvSpPr>
          <p:cNvPr id="9" name="Public About label"/>
          <p:cNvSpPr txBox="1"/>
          <p:nvPr/>
        </p:nvSpPr>
        <p:spPr>
          <a:xfrm>
            <a:off x="457200"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About</a:t>
            </a:r>
            <a:endParaRPr lang="en-US" sz="1200" dirty="0"/>
          </a:p>
        </p:txBody>
      </p:sp>
      <p:sp>
        <p:nvSpPr>
          <p:cNvPr id="10" name="Public tick 2"/>
          <p:cNvSpPr/>
          <p:nvPr/>
        </p:nvSpPr>
        <p:spPr>
          <a:xfrm>
            <a:off x="1959429" y="1645920"/>
            <a:ext cx="0" cy="137160"/>
          </a:xfrm>
          <a:prstGeom prst="line">
            <a:avLst/>
          </a:prstGeom>
          <a:noFill/>
          <a:ln w="19050">
            <a:solidFill>
              <a:schemeClr val="accent4"/>
            </a:solidFill>
            <a:prstDash val="solid"/>
          </a:ln>
        </p:spPr>
      </p:sp>
      <p:sp>
        <p:nvSpPr>
          <p:cNvPr id="11" name="Public Services"/>
          <p:cNvSpPr/>
          <p:nvPr/>
        </p:nvSpPr>
        <p:spPr>
          <a:xfrm>
            <a:off x="1502229" y="1783080"/>
            <a:ext cx="914400" cy="457200"/>
          </a:xfrm>
          <a:prstGeom prst="roundRect">
            <a:avLst>
              <a:gd name="adj" fmla="val 16000"/>
            </a:avLst>
          </a:prstGeom>
          <a:solidFill>
            <a:schemeClr val="accent1"/>
          </a:solidFill>
          <a:ln/>
        </p:spPr>
      </p:sp>
      <p:sp>
        <p:nvSpPr>
          <p:cNvPr id="12" name="Public Services label"/>
          <p:cNvSpPr txBox="1"/>
          <p:nvPr/>
        </p:nvSpPr>
        <p:spPr>
          <a:xfrm>
            <a:off x="1502229"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Services</a:t>
            </a:r>
            <a:endParaRPr lang="en-US" sz="1200" dirty="0"/>
          </a:p>
        </p:txBody>
      </p:sp>
      <p:sp>
        <p:nvSpPr>
          <p:cNvPr id="13" name="Public tick 3"/>
          <p:cNvSpPr/>
          <p:nvPr/>
        </p:nvSpPr>
        <p:spPr>
          <a:xfrm>
            <a:off x="3004457" y="1645920"/>
            <a:ext cx="0" cy="137160"/>
          </a:xfrm>
          <a:prstGeom prst="line">
            <a:avLst/>
          </a:prstGeom>
          <a:noFill/>
          <a:ln w="19050">
            <a:solidFill>
              <a:schemeClr val="accent4"/>
            </a:solidFill>
            <a:prstDash val="solid"/>
          </a:ln>
        </p:spPr>
      </p:sp>
      <p:sp>
        <p:nvSpPr>
          <p:cNvPr id="14" name="Public EV Charging"/>
          <p:cNvSpPr/>
          <p:nvPr/>
        </p:nvSpPr>
        <p:spPr>
          <a:xfrm>
            <a:off x="2547257" y="1783080"/>
            <a:ext cx="914400" cy="457200"/>
          </a:xfrm>
          <a:prstGeom prst="roundRect">
            <a:avLst>
              <a:gd name="adj" fmla="val 16000"/>
            </a:avLst>
          </a:prstGeom>
          <a:solidFill>
            <a:schemeClr val="accent1"/>
          </a:solidFill>
          <a:ln/>
        </p:spPr>
      </p:sp>
      <p:sp>
        <p:nvSpPr>
          <p:cNvPr id="15" name="Public EV Charging label"/>
          <p:cNvSpPr txBox="1"/>
          <p:nvPr/>
        </p:nvSpPr>
        <p:spPr>
          <a:xfrm>
            <a:off x="2547257"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EV Charging</a:t>
            </a:r>
            <a:endParaRPr lang="en-US" sz="1200" dirty="0"/>
          </a:p>
        </p:txBody>
      </p:sp>
      <p:sp>
        <p:nvSpPr>
          <p:cNvPr id="16" name="Public tick 4"/>
          <p:cNvSpPr/>
          <p:nvPr/>
        </p:nvSpPr>
        <p:spPr>
          <a:xfrm>
            <a:off x="4049486" y="1645920"/>
            <a:ext cx="0" cy="137160"/>
          </a:xfrm>
          <a:prstGeom prst="line">
            <a:avLst/>
          </a:prstGeom>
          <a:noFill/>
          <a:ln w="19050">
            <a:solidFill>
              <a:schemeClr val="accent4"/>
            </a:solidFill>
            <a:prstDash val="solid"/>
          </a:ln>
        </p:spPr>
      </p:sp>
      <p:sp>
        <p:nvSpPr>
          <p:cNvPr id="17" name="Public Training"/>
          <p:cNvSpPr/>
          <p:nvPr/>
        </p:nvSpPr>
        <p:spPr>
          <a:xfrm>
            <a:off x="3592286" y="1783080"/>
            <a:ext cx="914400" cy="457200"/>
          </a:xfrm>
          <a:prstGeom prst="roundRect">
            <a:avLst>
              <a:gd name="adj" fmla="val 16000"/>
            </a:avLst>
          </a:prstGeom>
          <a:solidFill>
            <a:schemeClr val="accent1"/>
          </a:solidFill>
          <a:ln/>
        </p:spPr>
      </p:sp>
      <p:sp>
        <p:nvSpPr>
          <p:cNvPr id="18" name="Public Training label"/>
          <p:cNvSpPr txBox="1"/>
          <p:nvPr/>
        </p:nvSpPr>
        <p:spPr>
          <a:xfrm>
            <a:off x="3592286"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Training</a:t>
            </a:r>
            <a:endParaRPr lang="en-US" sz="1200" dirty="0"/>
          </a:p>
        </p:txBody>
      </p:sp>
      <p:sp>
        <p:nvSpPr>
          <p:cNvPr id="19" name="Public tick 5"/>
          <p:cNvSpPr/>
          <p:nvPr/>
        </p:nvSpPr>
        <p:spPr>
          <a:xfrm>
            <a:off x="5094514" y="1645920"/>
            <a:ext cx="0" cy="137160"/>
          </a:xfrm>
          <a:prstGeom prst="line">
            <a:avLst/>
          </a:prstGeom>
          <a:noFill/>
          <a:ln w="19050">
            <a:solidFill>
              <a:schemeClr val="accent4"/>
            </a:solidFill>
            <a:prstDash val="solid"/>
          </a:ln>
        </p:spPr>
      </p:sp>
      <p:sp>
        <p:nvSpPr>
          <p:cNvPr id="20" name="Public Projects"/>
          <p:cNvSpPr/>
          <p:nvPr/>
        </p:nvSpPr>
        <p:spPr>
          <a:xfrm>
            <a:off x="4637314" y="1783080"/>
            <a:ext cx="914400" cy="457200"/>
          </a:xfrm>
          <a:prstGeom prst="roundRect">
            <a:avLst>
              <a:gd name="adj" fmla="val 16000"/>
            </a:avLst>
          </a:prstGeom>
          <a:solidFill>
            <a:schemeClr val="accent1"/>
          </a:solidFill>
          <a:ln/>
        </p:spPr>
      </p:sp>
      <p:sp>
        <p:nvSpPr>
          <p:cNvPr id="21" name="Public Projects label"/>
          <p:cNvSpPr txBox="1"/>
          <p:nvPr/>
        </p:nvSpPr>
        <p:spPr>
          <a:xfrm>
            <a:off x="4637314"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Projects</a:t>
            </a:r>
            <a:endParaRPr lang="en-US" sz="1200" dirty="0"/>
          </a:p>
        </p:txBody>
      </p:sp>
      <p:sp>
        <p:nvSpPr>
          <p:cNvPr id="22" name="Public tick 6"/>
          <p:cNvSpPr/>
          <p:nvPr/>
        </p:nvSpPr>
        <p:spPr>
          <a:xfrm>
            <a:off x="6139543" y="1645920"/>
            <a:ext cx="0" cy="137160"/>
          </a:xfrm>
          <a:prstGeom prst="line">
            <a:avLst/>
          </a:prstGeom>
          <a:noFill/>
          <a:ln w="19050">
            <a:solidFill>
              <a:schemeClr val="accent4"/>
            </a:solidFill>
            <a:prstDash val="solid"/>
          </a:ln>
        </p:spPr>
      </p:sp>
      <p:sp>
        <p:nvSpPr>
          <p:cNvPr id="23" name="Public Blog"/>
          <p:cNvSpPr/>
          <p:nvPr/>
        </p:nvSpPr>
        <p:spPr>
          <a:xfrm>
            <a:off x="5682343" y="1783080"/>
            <a:ext cx="914400" cy="457200"/>
          </a:xfrm>
          <a:prstGeom prst="roundRect">
            <a:avLst>
              <a:gd name="adj" fmla="val 16000"/>
            </a:avLst>
          </a:prstGeom>
          <a:solidFill>
            <a:schemeClr val="accent1"/>
          </a:solidFill>
          <a:ln/>
        </p:spPr>
      </p:sp>
      <p:sp>
        <p:nvSpPr>
          <p:cNvPr id="24" name="Public Blog label"/>
          <p:cNvSpPr txBox="1"/>
          <p:nvPr/>
        </p:nvSpPr>
        <p:spPr>
          <a:xfrm>
            <a:off x="5682343"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Blog</a:t>
            </a:r>
            <a:endParaRPr lang="en-US" sz="1200" dirty="0"/>
          </a:p>
        </p:txBody>
      </p:sp>
      <p:sp>
        <p:nvSpPr>
          <p:cNvPr id="25" name="Public tick 7"/>
          <p:cNvSpPr/>
          <p:nvPr/>
        </p:nvSpPr>
        <p:spPr>
          <a:xfrm>
            <a:off x="7184571" y="1645920"/>
            <a:ext cx="0" cy="137160"/>
          </a:xfrm>
          <a:prstGeom prst="line">
            <a:avLst/>
          </a:prstGeom>
          <a:noFill/>
          <a:ln w="19050">
            <a:solidFill>
              <a:schemeClr val="accent4"/>
            </a:solidFill>
            <a:prstDash val="solid"/>
          </a:ln>
        </p:spPr>
      </p:sp>
      <p:sp>
        <p:nvSpPr>
          <p:cNvPr id="26" name="Public Contact"/>
          <p:cNvSpPr/>
          <p:nvPr/>
        </p:nvSpPr>
        <p:spPr>
          <a:xfrm>
            <a:off x="6727371" y="1783080"/>
            <a:ext cx="914400" cy="457200"/>
          </a:xfrm>
          <a:prstGeom prst="roundRect">
            <a:avLst>
              <a:gd name="adj" fmla="val 16000"/>
            </a:avLst>
          </a:prstGeom>
          <a:solidFill>
            <a:schemeClr val="accent1"/>
          </a:solidFill>
          <a:ln/>
        </p:spPr>
      </p:sp>
      <p:sp>
        <p:nvSpPr>
          <p:cNvPr id="27" name="Public Contact label"/>
          <p:cNvSpPr txBox="1"/>
          <p:nvPr/>
        </p:nvSpPr>
        <p:spPr>
          <a:xfrm>
            <a:off x="6727371"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Contact</a:t>
            </a:r>
            <a:endParaRPr lang="en-US" sz="1200" dirty="0"/>
          </a:p>
        </p:txBody>
      </p:sp>
      <p:sp>
        <p:nvSpPr>
          <p:cNvPr id="28" name="Public tick 8"/>
          <p:cNvSpPr/>
          <p:nvPr/>
        </p:nvSpPr>
        <p:spPr>
          <a:xfrm>
            <a:off x="8229600" y="1645920"/>
            <a:ext cx="0" cy="137160"/>
          </a:xfrm>
          <a:prstGeom prst="line">
            <a:avLst/>
          </a:prstGeom>
          <a:noFill/>
          <a:ln w="19050">
            <a:solidFill>
              <a:schemeClr val="accent4"/>
            </a:solidFill>
            <a:prstDash val="solid"/>
          </a:ln>
        </p:spPr>
      </p:sp>
      <p:sp>
        <p:nvSpPr>
          <p:cNvPr id="29" name="Public Get a Quote"/>
          <p:cNvSpPr/>
          <p:nvPr/>
        </p:nvSpPr>
        <p:spPr>
          <a:xfrm>
            <a:off x="7772400" y="1783080"/>
            <a:ext cx="914400" cy="457200"/>
          </a:xfrm>
          <a:prstGeom prst="roundRect">
            <a:avLst>
              <a:gd name="adj" fmla="val 16000"/>
            </a:avLst>
          </a:prstGeom>
          <a:solidFill>
            <a:schemeClr val="accent1"/>
          </a:solidFill>
          <a:ln/>
        </p:spPr>
      </p:sp>
      <p:sp>
        <p:nvSpPr>
          <p:cNvPr id="30" name="Public Get a Quote label"/>
          <p:cNvSpPr txBox="1"/>
          <p:nvPr/>
        </p:nvSpPr>
        <p:spPr>
          <a:xfrm>
            <a:off x="7772400" y="17830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Get a Quote</a:t>
            </a:r>
            <a:endParaRPr lang="en-US" sz="1200" dirty="0"/>
          </a:p>
        </p:txBody>
      </p:sp>
      <p:sp>
        <p:nvSpPr>
          <p:cNvPr id="31" name="Detail stem 1"/>
          <p:cNvSpPr/>
          <p:nvPr/>
        </p:nvSpPr>
        <p:spPr>
          <a:xfrm>
            <a:off x="1959429" y="2240280"/>
            <a:ext cx="0" cy="73152"/>
          </a:xfrm>
          <a:prstGeom prst="line">
            <a:avLst/>
          </a:prstGeom>
          <a:noFill/>
          <a:ln w="19050">
            <a:solidFill>
              <a:schemeClr val="accent4"/>
            </a:solidFill>
            <a:prstDash val="solid"/>
          </a:ln>
        </p:spPr>
      </p:sp>
      <p:sp>
        <p:nvSpPr>
          <p:cNvPr id="32" name="Detail tag 1"/>
          <p:cNvSpPr/>
          <p:nvPr/>
        </p:nvSpPr>
        <p:spPr>
          <a:xfrm>
            <a:off x="1502229" y="2313432"/>
            <a:ext cx="914400" cy="274320"/>
          </a:xfrm>
          <a:prstGeom prst="roundRect">
            <a:avLst>
              <a:gd name="adj" fmla="val 26667"/>
            </a:avLst>
          </a:prstGeom>
          <a:solidFill>
            <a:schemeClr val="bg2"/>
          </a:solidFill>
          <a:ln/>
        </p:spPr>
      </p:sp>
      <p:sp>
        <p:nvSpPr>
          <p:cNvPr id="33" name="Detail label 1"/>
          <p:cNvSpPr txBox="1"/>
          <p:nvPr/>
        </p:nvSpPr>
        <p:spPr>
          <a:xfrm>
            <a:off x="1502229" y="2313432"/>
            <a:ext cx="914400" cy="274320"/>
          </a:xfrm>
          <a:prstGeom prst="rect">
            <a:avLst/>
          </a:prstGeom>
          <a:noFill/>
          <a:ln/>
        </p:spPr>
        <p:txBody>
          <a:bodyPr wrap="square" lIns="0" tIns="0" rIns="0" bIns="0"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detail page</a:t>
            </a:r>
            <a:endParaRPr lang="en-US" sz="1000" dirty="0"/>
          </a:p>
        </p:txBody>
      </p:sp>
      <p:sp>
        <p:nvSpPr>
          <p:cNvPr id="34" name="Detail stem 3"/>
          <p:cNvSpPr/>
          <p:nvPr/>
        </p:nvSpPr>
        <p:spPr>
          <a:xfrm>
            <a:off x="4049486" y="2240280"/>
            <a:ext cx="0" cy="73152"/>
          </a:xfrm>
          <a:prstGeom prst="line">
            <a:avLst/>
          </a:prstGeom>
          <a:noFill/>
          <a:ln w="19050">
            <a:solidFill>
              <a:schemeClr val="accent4"/>
            </a:solidFill>
            <a:prstDash val="solid"/>
          </a:ln>
        </p:spPr>
      </p:sp>
      <p:sp>
        <p:nvSpPr>
          <p:cNvPr id="35" name="Detail tag 3"/>
          <p:cNvSpPr/>
          <p:nvPr/>
        </p:nvSpPr>
        <p:spPr>
          <a:xfrm>
            <a:off x="3592286" y="2313432"/>
            <a:ext cx="914400" cy="274320"/>
          </a:xfrm>
          <a:prstGeom prst="roundRect">
            <a:avLst>
              <a:gd name="adj" fmla="val 26667"/>
            </a:avLst>
          </a:prstGeom>
          <a:solidFill>
            <a:schemeClr val="bg2"/>
          </a:solidFill>
          <a:ln/>
        </p:spPr>
      </p:sp>
      <p:sp>
        <p:nvSpPr>
          <p:cNvPr id="36" name="Detail label 3"/>
          <p:cNvSpPr txBox="1"/>
          <p:nvPr/>
        </p:nvSpPr>
        <p:spPr>
          <a:xfrm>
            <a:off x="3592286" y="2313432"/>
            <a:ext cx="914400" cy="274320"/>
          </a:xfrm>
          <a:prstGeom prst="rect">
            <a:avLst/>
          </a:prstGeom>
          <a:noFill/>
          <a:ln/>
        </p:spPr>
        <p:txBody>
          <a:bodyPr wrap="square" lIns="0" tIns="0" rIns="0" bIns="0"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detail page</a:t>
            </a:r>
            <a:endParaRPr lang="en-US" sz="1000" dirty="0"/>
          </a:p>
        </p:txBody>
      </p:sp>
      <p:sp>
        <p:nvSpPr>
          <p:cNvPr id="37" name="Detail stem 4"/>
          <p:cNvSpPr/>
          <p:nvPr/>
        </p:nvSpPr>
        <p:spPr>
          <a:xfrm>
            <a:off x="5094514" y="2240280"/>
            <a:ext cx="0" cy="73152"/>
          </a:xfrm>
          <a:prstGeom prst="line">
            <a:avLst/>
          </a:prstGeom>
          <a:noFill/>
          <a:ln w="19050">
            <a:solidFill>
              <a:schemeClr val="accent4"/>
            </a:solidFill>
            <a:prstDash val="solid"/>
          </a:ln>
        </p:spPr>
      </p:sp>
      <p:sp>
        <p:nvSpPr>
          <p:cNvPr id="38" name="Detail tag 4"/>
          <p:cNvSpPr/>
          <p:nvPr/>
        </p:nvSpPr>
        <p:spPr>
          <a:xfrm>
            <a:off x="4637314" y="2313432"/>
            <a:ext cx="914400" cy="274320"/>
          </a:xfrm>
          <a:prstGeom prst="roundRect">
            <a:avLst>
              <a:gd name="adj" fmla="val 26667"/>
            </a:avLst>
          </a:prstGeom>
          <a:solidFill>
            <a:schemeClr val="bg2"/>
          </a:solidFill>
          <a:ln/>
        </p:spPr>
      </p:sp>
      <p:sp>
        <p:nvSpPr>
          <p:cNvPr id="39" name="Detail label 4"/>
          <p:cNvSpPr txBox="1"/>
          <p:nvPr/>
        </p:nvSpPr>
        <p:spPr>
          <a:xfrm>
            <a:off x="4637314" y="2313432"/>
            <a:ext cx="914400" cy="274320"/>
          </a:xfrm>
          <a:prstGeom prst="rect">
            <a:avLst/>
          </a:prstGeom>
          <a:noFill/>
          <a:ln/>
        </p:spPr>
        <p:txBody>
          <a:bodyPr wrap="square" lIns="0" tIns="0" rIns="0" bIns="0"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detail page</a:t>
            </a:r>
            <a:endParaRPr lang="en-US" sz="1000" dirty="0"/>
          </a:p>
        </p:txBody>
      </p:sp>
      <p:sp>
        <p:nvSpPr>
          <p:cNvPr id="40" name="Detail stem 5"/>
          <p:cNvSpPr/>
          <p:nvPr/>
        </p:nvSpPr>
        <p:spPr>
          <a:xfrm>
            <a:off x="6139543" y="2240280"/>
            <a:ext cx="0" cy="73152"/>
          </a:xfrm>
          <a:prstGeom prst="line">
            <a:avLst/>
          </a:prstGeom>
          <a:noFill/>
          <a:ln w="19050">
            <a:solidFill>
              <a:schemeClr val="accent4"/>
            </a:solidFill>
            <a:prstDash val="solid"/>
          </a:ln>
        </p:spPr>
      </p:sp>
      <p:sp>
        <p:nvSpPr>
          <p:cNvPr id="41" name="Detail tag 5"/>
          <p:cNvSpPr/>
          <p:nvPr/>
        </p:nvSpPr>
        <p:spPr>
          <a:xfrm>
            <a:off x="5682343" y="2313432"/>
            <a:ext cx="914400" cy="274320"/>
          </a:xfrm>
          <a:prstGeom prst="roundRect">
            <a:avLst>
              <a:gd name="adj" fmla="val 26667"/>
            </a:avLst>
          </a:prstGeom>
          <a:solidFill>
            <a:schemeClr val="bg2"/>
          </a:solidFill>
          <a:ln/>
        </p:spPr>
      </p:sp>
      <p:sp>
        <p:nvSpPr>
          <p:cNvPr id="42" name="Detail label 5"/>
          <p:cNvSpPr txBox="1"/>
          <p:nvPr/>
        </p:nvSpPr>
        <p:spPr>
          <a:xfrm>
            <a:off x="5682343" y="2313432"/>
            <a:ext cx="914400" cy="274320"/>
          </a:xfrm>
          <a:prstGeom prst="rect">
            <a:avLst/>
          </a:prstGeom>
          <a:noFill/>
          <a:ln/>
        </p:spPr>
        <p:txBody>
          <a:bodyPr wrap="square" lIns="0" tIns="0" rIns="0" bIns="0" rtlCol="0" anchor="ctr"/>
          <a:lstStyle/>
          <a:p>
            <a:pPr algn="ctr" indent="0" marL="0">
              <a:buNone/>
            </a:pPr>
            <a:r>
              <a:rPr lang="en-US" sz="1000" dirty="0">
                <a:solidFill>
                  <a:schemeClr val="tx1"/>
                </a:solidFill>
                <a:latin typeface="Calibri" pitchFamily="34" charset="0"/>
                <a:ea typeface="Calibri" pitchFamily="34" charset="-122"/>
                <a:cs typeface="Calibri" pitchFamily="34" charset="-120"/>
              </a:rPr>
              <a:t>detail page</a:t>
            </a:r>
            <a:endParaRPr lang="en-US" sz="1000" dirty="0"/>
          </a:p>
        </p:txBody>
      </p:sp>
      <p:sp>
        <p:nvSpPr>
          <p:cNvPr id="43" name="Admin root"/>
          <p:cNvSpPr/>
          <p:nvPr/>
        </p:nvSpPr>
        <p:spPr>
          <a:xfrm>
            <a:off x="3429000" y="2926080"/>
            <a:ext cx="2286000" cy="384048"/>
          </a:xfrm>
          <a:prstGeom prst="roundRect">
            <a:avLst>
              <a:gd name="adj" fmla="val 19048"/>
            </a:avLst>
          </a:prstGeom>
          <a:solidFill>
            <a:schemeClr val="tx1"/>
          </a:solidFill>
          <a:ln/>
        </p:spPr>
      </p:sp>
      <p:sp>
        <p:nvSpPr>
          <p:cNvPr id="44" name="Admin root label"/>
          <p:cNvSpPr txBox="1"/>
          <p:nvPr/>
        </p:nvSpPr>
        <p:spPr>
          <a:xfrm>
            <a:off x="3429000" y="2926080"/>
            <a:ext cx="228600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Admin panel (/admin)</a:t>
            </a:r>
            <a:endParaRPr lang="en-US" sz="1400" dirty="0"/>
          </a:p>
        </p:txBody>
      </p:sp>
      <p:sp>
        <p:nvSpPr>
          <p:cNvPr id="45" name="Admin stem"/>
          <p:cNvSpPr/>
          <p:nvPr/>
        </p:nvSpPr>
        <p:spPr>
          <a:xfrm>
            <a:off x="4572000" y="3310128"/>
            <a:ext cx="0" cy="164592"/>
          </a:xfrm>
          <a:prstGeom prst="line">
            <a:avLst/>
          </a:prstGeom>
          <a:noFill/>
          <a:ln w="19050">
            <a:solidFill>
              <a:schemeClr val="accent4"/>
            </a:solidFill>
            <a:prstDash val="solid"/>
          </a:ln>
        </p:spPr>
      </p:sp>
      <p:sp>
        <p:nvSpPr>
          <p:cNvPr id="46" name="Admin bar"/>
          <p:cNvSpPr/>
          <p:nvPr/>
        </p:nvSpPr>
        <p:spPr>
          <a:xfrm>
            <a:off x="914400" y="3474720"/>
            <a:ext cx="7315200" cy="0"/>
          </a:xfrm>
          <a:prstGeom prst="line">
            <a:avLst/>
          </a:prstGeom>
          <a:noFill/>
          <a:ln w="19050">
            <a:solidFill>
              <a:schemeClr val="accent4"/>
            </a:solidFill>
            <a:prstDash val="solid"/>
          </a:ln>
        </p:spPr>
      </p:sp>
      <p:sp>
        <p:nvSpPr>
          <p:cNvPr id="47" name="Admin tick 1"/>
          <p:cNvSpPr/>
          <p:nvPr/>
        </p:nvSpPr>
        <p:spPr>
          <a:xfrm>
            <a:off x="914400" y="3474720"/>
            <a:ext cx="0" cy="137160"/>
          </a:xfrm>
          <a:prstGeom prst="line">
            <a:avLst/>
          </a:prstGeom>
          <a:noFill/>
          <a:ln w="19050">
            <a:solidFill>
              <a:schemeClr val="accent4"/>
            </a:solidFill>
            <a:prstDash val="solid"/>
          </a:ln>
        </p:spPr>
      </p:sp>
      <p:sp>
        <p:nvSpPr>
          <p:cNvPr id="48" name="Admin Dashboard"/>
          <p:cNvSpPr/>
          <p:nvPr/>
        </p:nvSpPr>
        <p:spPr>
          <a:xfrm>
            <a:off x="457200" y="3611880"/>
            <a:ext cx="914400" cy="457200"/>
          </a:xfrm>
          <a:prstGeom prst="roundRect">
            <a:avLst>
              <a:gd name="adj" fmla="val 16000"/>
            </a:avLst>
          </a:prstGeom>
          <a:solidFill>
            <a:schemeClr val="accent6"/>
          </a:solidFill>
          <a:ln/>
        </p:spPr>
      </p:sp>
      <p:sp>
        <p:nvSpPr>
          <p:cNvPr id="49" name="Admin Dashboard label"/>
          <p:cNvSpPr txBox="1"/>
          <p:nvPr/>
        </p:nvSpPr>
        <p:spPr>
          <a:xfrm>
            <a:off x="457200"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Dashboard</a:t>
            </a:r>
            <a:endParaRPr lang="en-US" sz="1200" dirty="0"/>
          </a:p>
        </p:txBody>
      </p:sp>
      <p:sp>
        <p:nvSpPr>
          <p:cNvPr id="50" name="Admin tick 2"/>
          <p:cNvSpPr/>
          <p:nvPr/>
        </p:nvSpPr>
        <p:spPr>
          <a:xfrm>
            <a:off x="1959429" y="3474720"/>
            <a:ext cx="0" cy="137160"/>
          </a:xfrm>
          <a:prstGeom prst="line">
            <a:avLst/>
          </a:prstGeom>
          <a:noFill/>
          <a:ln w="19050">
            <a:solidFill>
              <a:schemeClr val="accent4"/>
            </a:solidFill>
            <a:prstDash val="solid"/>
          </a:ln>
        </p:spPr>
      </p:sp>
      <p:sp>
        <p:nvSpPr>
          <p:cNvPr id="51" name="Admin Leads"/>
          <p:cNvSpPr/>
          <p:nvPr/>
        </p:nvSpPr>
        <p:spPr>
          <a:xfrm>
            <a:off x="1502229" y="3611880"/>
            <a:ext cx="914400" cy="457200"/>
          </a:xfrm>
          <a:prstGeom prst="roundRect">
            <a:avLst>
              <a:gd name="adj" fmla="val 16000"/>
            </a:avLst>
          </a:prstGeom>
          <a:solidFill>
            <a:schemeClr val="accent6"/>
          </a:solidFill>
          <a:ln/>
        </p:spPr>
      </p:sp>
      <p:sp>
        <p:nvSpPr>
          <p:cNvPr id="52" name="Admin Leads label"/>
          <p:cNvSpPr txBox="1"/>
          <p:nvPr/>
        </p:nvSpPr>
        <p:spPr>
          <a:xfrm>
            <a:off x="1502229"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Leads</a:t>
            </a:r>
            <a:endParaRPr lang="en-US" sz="1200" dirty="0"/>
          </a:p>
        </p:txBody>
      </p:sp>
      <p:sp>
        <p:nvSpPr>
          <p:cNvPr id="53" name="Admin tick 3"/>
          <p:cNvSpPr/>
          <p:nvPr/>
        </p:nvSpPr>
        <p:spPr>
          <a:xfrm>
            <a:off x="3004457" y="3474720"/>
            <a:ext cx="0" cy="137160"/>
          </a:xfrm>
          <a:prstGeom prst="line">
            <a:avLst/>
          </a:prstGeom>
          <a:noFill/>
          <a:ln w="19050">
            <a:solidFill>
              <a:schemeClr val="accent4"/>
            </a:solidFill>
            <a:prstDash val="solid"/>
          </a:ln>
        </p:spPr>
      </p:sp>
      <p:sp>
        <p:nvSpPr>
          <p:cNvPr id="54" name="Admin Enrollments"/>
          <p:cNvSpPr/>
          <p:nvPr/>
        </p:nvSpPr>
        <p:spPr>
          <a:xfrm>
            <a:off x="2547257" y="3611880"/>
            <a:ext cx="914400" cy="457200"/>
          </a:xfrm>
          <a:prstGeom prst="roundRect">
            <a:avLst>
              <a:gd name="adj" fmla="val 16000"/>
            </a:avLst>
          </a:prstGeom>
          <a:solidFill>
            <a:schemeClr val="accent6"/>
          </a:solidFill>
          <a:ln/>
        </p:spPr>
      </p:sp>
      <p:sp>
        <p:nvSpPr>
          <p:cNvPr id="55" name="Admin Enrollments label"/>
          <p:cNvSpPr txBox="1"/>
          <p:nvPr/>
        </p:nvSpPr>
        <p:spPr>
          <a:xfrm>
            <a:off x="2547257"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Enrollments</a:t>
            </a:r>
            <a:endParaRPr lang="en-US" sz="1200" dirty="0"/>
          </a:p>
        </p:txBody>
      </p:sp>
      <p:sp>
        <p:nvSpPr>
          <p:cNvPr id="56" name="Admin tick 4"/>
          <p:cNvSpPr/>
          <p:nvPr/>
        </p:nvSpPr>
        <p:spPr>
          <a:xfrm>
            <a:off x="4049486" y="3474720"/>
            <a:ext cx="0" cy="137160"/>
          </a:xfrm>
          <a:prstGeom prst="line">
            <a:avLst/>
          </a:prstGeom>
          <a:noFill/>
          <a:ln w="19050">
            <a:solidFill>
              <a:schemeClr val="accent4"/>
            </a:solidFill>
            <a:prstDash val="solid"/>
          </a:ln>
        </p:spPr>
      </p:sp>
      <p:sp>
        <p:nvSpPr>
          <p:cNvPr id="57" name="Admin Services"/>
          <p:cNvSpPr/>
          <p:nvPr/>
        </p:nvSpPr>
        <p:spPr>
          <a:xfrm>
            <a:off x="3592286" y="3611880"/>
            <a:ext cx="914400" cy="457200"/>
          </a:xfrm>
          <a:prstGeom prst="roundRect">
            <a:avLst>
              <a:gd name="adj" fmla="val 16000"/>
            </a:avLst>
          </a:prstGeom>
          <a:solidFill>
            <a:schemeClr val="accent6"/>
          </a:solidFill>
          <a:ln/>
        </p:spPr>
      </p:sp>
      <p:sp>
        <p:nvSpPr>
          <p:cNvPr id="58" name="Admin Services label"/>
          <p:cNvSpPr txBox="1"/>
          <p:nvPr/>
        </p:nvSpPr>
        <p:spPr>
          <a:xfrm>
            <a:off x="3592286"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Services</a:t>
            </a:r>
            <a:endParaRPr lang="en-US" sz="1200" dirty="0"/>
          </a:p>
        </p:txBody>
      </p:sp>
      <p:sp>
        <p:nvSpPr>
          <p:cNvPr id="59" name="Admin tick 5"/>
          <p:cNvSpPr/>
          <p:nvPr/>
        </p:nvSpPr>
        <p:spPr>
          <a:xfrm>
            <a:off x="5094514" y="3474720"/>
            <a:ext cx="0" cy="137160"/>
          </a:xfrm>
          <a:prstGeom prst="line">
            <a:avLst/>
          </a:prstGeom>
          <a:noFill/>
          <a:ln w="19050">
            <a:solidFill>
              <a:schemeClr val="accent4"/>
            </a:solidFill>
            <a:prstDash val="solid"/>
          </a:ln>
        </p:spPr>
      </p:sp>
      <p:sp>
        <p:nvSpPr>
          <p:cNvPr id="60" name="Admin Courses"/>
          <p:cNvSpPr/>
          <p:nvPr/>
        </p:nvSpPr>
        <p:spPr>
          <a:xfrm>
            <a:off x="4637314" y="3611880"/>
            <a:ext cx="914400" cy="457200"/>
          </a:xfrm>
          <a:prstGeom prst="roundRect">
            <a:avLst>
              <a:gd name="adj" fmla="val 16000"/>
            </a:avLst>
          </a:prstGeom>
          <a:solidFill>
            <a:schemeClr val="accent6"/>
          </a:solidFill>
          <a:ln/>
        </p:spPr>
      </p:sp>
      <p:sp>
        <p:nvSpPr>
          <p:cNvPr id="61" name="Admin Courses label"/>
          <p:cNvSpPr txBox="1"/>
          <p:nvPr/>
        </p:nvSpPr>
        <p:spPr>
          <a:xfrm>
            <a:off x="4637314"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Courses</a:t>
            </a:r>
            <a:endParaRPr lang="en-US" sz="1200" dirty="0"/>
          </a:p>
        </p:txBody>
      </p:sp>
      <p:sp>
        <p:nvSpPr>
          <p:cNvPr id="62" name="Admin tick 6"/>
          <p:cNvSpPr/>
          <p:nvPr/>
        </p:nvSpPr>
        <p:spPr>
          <a:xfrm>
            <a:off x="6139543" y="3474720"/>
            <a:ext cx="0" cy="137160"/>
          </a:xfrm>
          <a:prstGeom prst="line">
            <a:avLst/>
          </a:prstGeom>
          <a:noFill/>
          <a:ln w="19050">
            <a:solidFill>
              <a:schemeClr val="accent4"/>
            </a:solidFill>
            <a:prstDash val="solid"/>
          </a:ln>
        </p:spPr>
      </p:sp>
      <p:sp>
        <p:nvSpPr>
          <p:cNvPr id="63" name="Admin Batches"/>
          <p:cNvSpPr/>
          <p:nvPr/>
        </p:nvSpPr>
        <p:spPr>
          <a:xfrm>
            <a:off x="5682343" y="3611880"/>
            <a:ext cx="914400" cy="457200"/>
          </a:xfrm>
          <a:prstGeom prst="roundRect">
            <a:avLst>
              <a:gd name="adj" fmla="val 16000"/>
            </a:avLst>
          </a:prstGeom>
          <a:solidFill>
            <a:schemeClr val="accent6"/>
          </a:solidFill>
          <a:ln/>
        </p:spPr>
      </p:sp>
      <p:sp>
        <p:nvSpPr>
          <p:cNvPr id="64" name="Admin Batches label"/>
          <p:cNvSpPr txBox="1"/>
          <p:nvPr/>
        </p:nvSpPr>
        <p:spPr>
          <a:xfrm>
            <a:off x="5682343"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Batches</a:t>
            </a:r>
            <a:endParaRPr lang="en-US" sz="1200" dirty="0"/>
          </a:p>
        </p:txBody>
      </p:sp>
      <p:sp>
        <p:nvSpPr>
          <p:cNvPr id="65" name="Admin tick 7"/>
          <p:cNvSpPr/>
          <p:nvPr/>
        </p:nvSpPr>
        <p:spPr>
          <a:xfrm>
            <a:off x="7184571" y="3474720"/>
            <a:ext cx="0" cy="137160"/>
          </a:xfrm>
          <a:prstGeom prst="line">
            <a:avLst/>
          </a:prstGeom>
          <a:noFill/>
          <a:ln w="19050">
            <a:solidFill>
              <a:schemeClr val="accent4"/>
            </a:solidFill>
            <a:prstDash val="solid"/>
          </a:ln>
        </p:spPr>
      </p:sp>
      <p:sp>
        <p:nvSpPr>
          <p:cNvPr id="66" name="Admin Projects"/>
          <p:cNvSpPr/>
          <p:nvPr/>
        </p:nvSpPr>
        <p:spPr>
          <a:xfrm>
            <a:off x="6727371" y="3611880"/>
            <a:ext cx="914400" cy="457200"/>
          </a:xfrm>
          <a:prstGeom prst="roundRect">
            <a:avLst>
              <a:gd name="adj" fmla="val 16000"/>
            </a:avLst>
          </a:prstGeom>
          <a:solidFill>
            <a:schemeClr val="accent6"/>
          </a:solidFill>
          <a:ln/>
        </p:spPr>
      </p:sp>
      <p:sp>
        <p:nvSpPr>
          <p:cNvPr id="67" name="Admin Projects label"/>
          <p:cNvSpPr txBox="1"/>
          <p:nvPr/>
        </p:nvSpPr>
        <p:spPr>
          <a:xfrm>
            <a:off x="6727371"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Projects</a:t>
            </a:r>
            <a:endParaRPr lang="en-US" sz="1200" dirty="0"/>
          </a:p>
        </p:txBody>
      </p:sp>
      <p:sp>
        <p:nvSpPr>
          <p:cNvPr id="68" name="Admin tick 8"/>
          <p:cNvSpPr/>
          <p:nvPr/>
        </p:nvSpPr>
        <p:spPr>
          <a:xfrm>
            <a:off x="8229600" y="3474720"/>
            <a:ext cx="0" cy="137160"/>
          </a:xfrm>
          <a:prstGeom prst="line">
            <a:avLst/>
          </a:prstGeom>
          <a:noFill/>
          <a:ln w="19050">
            <a:solidFill>
              <a:schemeClr val="accent4"/>
            </a:solidFill>
            <a:prstDash val="solid"/>
          </a:ln>
        </p:spPr>
      </p:sp>
      <p:sp>
        <p:nvSpPr>
          <p:cNvPr id="69" name="Admin Blog posts"/>
          <p:cNvSpPr/>
          <p:nvPr/>
        </p:nvSpPr>
        <p:spPr>
          <a:xfrm>
            <a:off x="7772400" y="3611880"/>
            <a:ext cx="914400" cy="457200"/>
          </a:xfrm>
          <a:prstGeom prst="roundRect">
            <a:avLst>
              <a:gd name="adj" fmla="val 16000"/>
            </a:avLst>
          </a:prstGeom>
          <a:solidFill>
            <a:schemeClr val="accent6"/>
          </a:solidFill>
          <a:ln/>
        </p:spPr>
      </p:sp>
      <p:sp>
        <p:nvSpPr>
          <p:cNvPr id="70" name="Admin Blog posts label"/>
          <p:cNvSpPr txBox="1"/>
          <p:nvPr/>
        </p:nvSpPr>
        <p:spPr>
          <a:xfrm>
            <a:off x="7772400" y="3611880"/>
            <a:ext cx="9144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Blog posts</a:t>
            </a:r>
            <a:endParaRPr lang="en-US" sz="1200" dirty="0"/>
          </a:p>
        </p:txBody>
      </p:sp>
      <p:sp>
        <p:nvSpPr>
          <p:cNvPr id="71" name="Admin note"/>
          <p:cNvSpPr txBox="1"/>
          <p:nvPr/>
        </p:nvSpPr>
        <p:spPr>
          <a:xfrm>
            <a:off x="457200" y="4178808"/>
            <a:ext cx="8229600" cy="2743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Admin login uses a JWT token. Every admin route is protected.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Database design</a:t>
            </a:r>
            <a:endParaRPr lang="en-US" sz="3400" dirty="0"/>
          </a:p>
        </p:txBody>
      </p:sp>
      <p:sp>
        <p:nvSpPr>
          <p:cNvPr id="3" name="Collection users"/>
          <p:cNvSpPr/>
          <p:nvPr/>
        </p:nvSpPr>
        <p:spPr>
          <a:xfrm>
            <a:off x="457200" y="1143000"/>
            <a:ext cx="1828800" cy="1371600"/>
          </a:xfrm>
          <a:prstGeom prst="roundRect">
            <a:avLst>
              <a:gd name="adj" fmla="val 5333"/>
            </a:avLst>
          </a:prstGeom>
          <a:solidFill>
            <a:schemeClr val="bg2"/>
          </a:solidFill>
          <a:ln/>
        </p:spPr>
      </p:sp>
      <p:sp>
        <p:nvSpPr>
          <p:cNvPr id="4" name="users name"/>
          <p:cNvSpPr txBox="1"/>
          <p:nvPr/>
        </p:nvSpPr>
        <p:spPr>
          <a:xfrm>
            <a:off x="594360" y="125272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users</a:t>
            </a:r>
            <a:endParaRPr lang="en-US" sz="1400" dirty="0"/>
          </a:p>
        </p:txBody>
      </p:sp>
      <p:sp>
        <p:nvSpPr>
          <p:cNvPr id="5" name="users fields"/>
          <p:cNvSpPr txBox="1"/>
          <p:nvPr/>
        </p:nvSpPr>
        <p:spPr>
          <a:xfrm>
            <a:off x="594360" y="158191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name, email, passwordHash, role</a:t>
            </a:r>
            <a:endParaRPr lang="en-US" sz="1100" dirty="0"/>
          </a:p>
        </p:txBody>
      </p:sp>
      <p:sp>
        <p:nvSpPr>
          <p:cNvPr id="6" name="Collection services"/>
          <p:cNvSpPr/>
          <p:nvPr/>
        </p:nvSpPr>
        <p:spPr>
          <a:xfrm>
            <a:off x="2590800" y="1143000"/>
            <a:ext cx="1828800" cy="1371600"/>
          </a:xfrm>
          <a:prstGeom prst="roundRect">
            <a:avLst>
              <a:gd name="adj" fmla="val 5333"/>
            </a:avLst>
          </a:prstGeom>
          <a:solidFill>
            <a:schemeClr val="bg2"/>
          </a:solidFill>
          <a:ln/>
        </p:spPr>
      </p:sp>
      <p:sp>
        <p:nvSpPr>
          <p:cNvPr id="7" name="services name"/>
          <p:cNvSpPr txBox="1"/>
          <p:nvPr/>
        </p:nvSpPr>
        <p:spPr>
          <a:xfrm>
            <a:off x="2727960" y="125272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services</a:t>
            </a:r>
            <a:endParaRPr lang="en-US" sz="1400" dirty="0"/>
          </a:p>
        </p:txBody>
      </p:sp>
      <p:sp>
        <p:nvSpPr>
          <p:cNvPr id="8" name="services fields"/>
          <p:cNvSpPr txBox="1"/>
          <p:nvPr/>
        </p:nvSpPr>
        <p:spPr>
          <a:xfrm>
            <a:off x="2727960" y="158191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title, slug, icon, shortText, description, order</a:t>
            </a:r>
            <a:endParaRPr lang="en-US" sz="1100" dirty="0"/>
          </a:p>
        </p:txBody>
      </p:sp>
      <p:sp>
        <p:nvSpPr>
          <p:cNvPr id="9" name="Collection projects"/>
          <p:cNvSpPr/>
          <p:nvPr/>
        </p:nvSpPr>
        <p:spPr>
          <a:xfrm>
            <a:off x="4724400" y="1143000"/>
            <a:ext cx="1828800" cy="1371600"/>
          </a:xfrm>
          <a:prstGeom prst="roundRect">
            <a:avLst>
              <a:gd name="adj" fmla="val 5333"/>
            </a:avLst>
          </a:prstGeom>
          <a:solidFill>
            <a:schemeClr val="bg2"/>
          </a:solidFill>
          <a:ln/>
        </p:spPr>
      </p:sp>
      <p:sp>
        <p:nvSpPr>
          <p:cNvPr id="10" name="projects name"/>
          <p:cNvSpPr txBox="1"/>
          <p:nvPr/>
        </p:nvSpPr>
        <p:spPr>
          <a:xfrm>
            <a:off x="4861560" y="125272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projects</a:t>
            </a:r>
            <a:endParaRPr lang="en-US" sz="1400" dirty="0"/>
          </a:p>
        </p:txBody>
      </p:sp>
      <p:sp>
        <p:nvSpPr>
          <p:cNvPr id="11" name="projects fields"/>
          <p:cNvSpPr txBox="1"/>
          <p:nvPr/>
        </p:nvSpPr>
        <p:spPr>
          <a:xfrm>
            <a:off x="4861560" y="158191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title, slug, capacity, sector, systemType, city, images</a:t>
            </a:r>
            <a:endParaRPr lang="en-US" sz="1100" dirty="0"/>
          </a:p>
        </p:txBody>
      </p:sp>
      <p:sp>
        <p:nvSpPr>
          <p:cNvPr id="12" name="Collection posts"/>
          <p:cNvSpPr/>
          <p:nvPr/>
        </p:nvSpPr>
        <p:spPr>
          <a:xfrm>
            <a:off x="6858000" y="1143000"/>
            <a:ext cx="1828800" cy="1371600"/>
          </a:xfrm>
          <a:prstGeom prst="roundRect">
            <a:avLst>
              <a:gd name="adj" fmla="val 5333"/>
            </a:avLst>
          </a:prstGeom>
          <a:solidFill>
            <a:schemeClr val="bg2"/>
          </a:solidFill>
          <a:ln/>
        </p:spPr>
      </p:sp>
      <p:sp>
        <p:nvSpPr>
          <p:cNvPr id="13" name="posts name"/>
          <p:cNvSpPr txBox="1"/>
          <p:nvPr/>
        </p:nvSpPr>
        <p:spPr>
          <a:xfrm>
            <a:off x="6995160" y="125272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posts</a:t>
            </a:r>
            <a:endParaRPr lang="en-US" sz="1400" dirty="0"/>
          </a:p>
        </p:txBody>
      </p:sp>
      <p:sp>
        <p:nvSpPr>
          <p:cNvPr id="14" name="posts fields"/>
          <p:cNvSpPr txBox="1"/>
          <p:nvPr/>
        </p:nvSpPr>
        <p:spPr>
          <a:xfrm>
            <a:off x="6995160" y="158191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title, slug, category, coverImage, content, publishedAt</a:t>
            </a:r>
            <a:endParaRPr lang="en-US" sz="1100" dirty="0"/>
          </a:p>
        </p:txBody>
      </p:sp>
      <p:sp>
        <p:nvSpPr>
          <p:cNvPr id="15" name="Collection courses"/>
          <p:cNvSpPr/>
          <p:nvPr/>
        </p:nvSpPr>
        <p:spPr>
          <a:xfrm>
            <a:off x="457200" y="2880360"/>
            <a:ext cx="1828800" cy="1371600"/>
          </a:xfrm>
          <a:prstGeom prst="roundRect">
            <a:avLst>
              <a:gd name="adj" fmla="val 5333"/>
            </a:avLst>
          </a:prstGeom>
          <a:solidFill>
            <a:schemeClr val="bg2"/>
          </a:solidFill>
          <a:ln/>
        </p:spPr>
      </p:sp>
      <p:sp>
        <p:nvSpPr>
          <p:cNvPr id="16" name="courses name"/>
          <p:cNvSpPr txBox="1"/>
          <p:nvPr/>
        </p:nvSpPr>
        <p:spPr>
          <a:xfrm>
            <a:off x="594360" y="299008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courses</a:t>
            </a:r>
            <a:endParaRPr lang="en-US" sz="1400" dirty="0"/>
          </a:p>
        </p:txBody>
      </p:sp>
      <p:sp>
        <p:nvSpPr>
          <p:cNvPr id="17" name="courses fields"/>
          <p:cNvSpPr txBox="1"/>
          <p:nvPr/>
        </p:nvSpPr>
        <p:spPr>
          <a:xfrm>
            <a:off x="594360" y="331927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title, slug, tools, duration, fee, outline, image</a:t>
            </a:r>
            <a:endParaRPr lang="en-US" sz="1100" dirty="0"/>
          </a:p>
        </p:txBody>
      </p:sp>
      <p:sp>
        <p:nvSpPr>
          <p:cNvPr id="18" name="Collection batches"/>
          <p:cNvSpPr/>
          <p:nvPr/>
        </p:nvSpPr>
        <p:spPr>
          <a:xfrm>
            <a:off x="2590800" y="2880360"/>
            <a:ext cx="1828800" cy="1371600"/>
          </a:xfrm>
          <a:prstGeom prst="roundRect">
            <a:avLst>
              <a:gd name="adj" fmla="val 5333"/>
            </a:avLst>
          </a:prstGeom>
          <a:solidFill>
            <a:schemeClr val="bg2"/>
          </a:solidFill>
          <a:ln/>
        </p:spPr>
      </p:sp>
      <p:sp>
        <p:nvSpPr>
          <p:cNvPr id="19" name="batches name"/>
          <p:cNvSpPr txBox="1"/>
          <p:nvPr/>
        </p:nvSpPr>
        <p:spPr>
          <a:xfrm>
            <a:off x="2727960" y="299008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batches</a:t>
            </a:r>
            <a:endParaRPr lang="en-US" sz="1400" dirty="0"/>
          </a:p>
        </p:txBody>
      </p:sp>
      <p:sp>
        <p:nvSpPr>
          <p:cNvPr id="20" name="batches fields"/>
          <p:cNvSpPr txBox="1"/>
          <p:nvPr/>
        </p:nvSpPr>
        <p:spPr>
          <a:xfrm>
            <a:off x="2727960" y="331927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course, startDate, mode, totalSeats, seatsTaken</a:t>
            </a:r>
            <a:endParaRPr lang="en-US" sz="1100" dirty="0"/>
          </a:p>
        </p:txBody>
      </p:sp>
      <p:sp>
        <p:nvSpPr>
          <p:cNvPr id="21" name="Collection enrollments"/>
          <p:cNvSpPr/>
          <p:nvPr/>
        </p:nvSpPr>
        <p:spPr>
          <a:xfrm>
            <a:off x="4724400" y="2880360"/>
            <a:ext cx="1828800" cy="1371600"/>
          </a:xfrm>
          <a:prstGeom prst="roundRect">
            <a:avLst>
              <a:gd name="adj" fmla="val 5333"/>
            </a:avLst>
          </a:prstGeom>
          <a:solidFill>
            <a:schemeClr val="bg2"/>
          </a:solidFill>
          <a:ln/>
        </p:spPr>
      </p:sp>
      <p:sp>
        <p:nvSpPr>
          <p:cNvPr id="22" name="enrollments name"/>
          <p:cNvSpPr txBox="1"/>
          <p:nvPr/>
        </p:nvSpPr>
        <p:spPr>
          <a:xfrm>
            <a:off x="4861560" y="299008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enrollments</a:t>
            </a:r>
            <a:endParaRPr lang="en-US" sz="1400" dirty="0"/>
          </a:p>
        </p:txBody>
      </p:sp>
      <p:sp>
        <p:nvSpPr>
          <p:cNvPr id="23" name="enrollments fields"/>
          <p:cNvSpPr txBox="1"/>
          <p:nvPr/>
        </p:nvSpPr>
        <p:spPr>
          <a:xfrm>
            <a:off x="4861560" y="331927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name, phone, email, university, course, batch, status</a:t>
            </a:r>
            <a:endParaRPr lang="en-US" sz="1100" dirty="0"/>
          </a:p>
        </p:txBody>
      </p:sp>
      <p:sp>
        <p:nvSpPr>
          <p:cNvPr id="24" name="Collection leads"/>
          <p:cNvSpPr/>
          <p:nvPr/>
        </p:nvSpPr>
        <p:spPr>
          <a:xfrm>
            <a:off x="6858000" y="2880360"/>
            <a:ext cx="1828800" cy="1371600"/>
          </a:xfrm>
          <a:prstGeom prst="roundRect">
            <a:avLst>
              <a:gd name="adj" fmla="val 5333"/>
            </a:avLst>
          </a:prstGeom>
          <a:solidFill>
            <a:schemeClr val="bg2"/>
          </a:solidFill>
          <a:ln/>
        </p:spPr>
      </p:sp>
      <p:sp>
        <p:nvSpPr>
          <p:cNvPr id="25" name="leads name"/>
          <p:cNvSpPr txBox="1"/>
          <p:nvPr/>
        </p:nvSpPr>
        <p:spPr>
          <a:xfrm>
            <a:off x="6995160" y="2990088"/>
            <a:ext cx="155448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leads</a:t>
            </a:r>
            <a:endParaRPr lang="en-US" sz="1400" dirty="0"/>
          </a:p>
        </p:txBody>
      </p:sp>
      <p:sp>
        <p:nvSpPr>
          <p:cNvPr id="26" name="leads fields"/>
          <p:cNvSpPr txBox="1"/>
          <p:nvPr/>
        </p:nvSpPr>
        <p:spPr>
          <a:xfrm>
            <a:off x="6995160" y="3319272"/>
            <a:ext cx="1554480" cy="8686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name, phone, email, city, service, message, source, status</a:t>
            </a:r>
            <a:endParaRPr lang="en-US" sz="1100" dirty="0"/>
          </a:p>
        </p:txBody>
      </p:sp>
      <p:sp>
        <p:nvSpPr>
          <p:cNvPr id="27" name="Arrow courses to batches"/>
          <p:cNvSpPr/>
          <p:nvPr/>
        </p:nvSpPr>
        <p:spPr>
          <a:xfrm>
            <a:off x="2286000" y="3566160"/>
            <a:ext cx="304800" cy="0"/>
          </a:xfrm>
          <a:prstGeom prst="line">
            <a:avLst/>
          </a:prstGeom>
          <a:noFill/>
          <a:ln w="19050">
            <a:solidFill>
              <a:schemeClr val="accent4"/>
            </a:solidFill>
            <a:prstDash val="solid"/>
            <a:tailEnd type="triangle"/>
          </a:ln>
        </p:spPr>
      </p:sp>
      <p:sp>
        <p:nvSpPr>
          <p:cNvPr id="28" name="Arrow batches to enrollments"/>
          <p:cNvSpPr/>
          <p:nvPr/>
        </p:nvSpPr>
        <p:spPr>
          <a:xfrm>
            <a:off x="4419600" y="3566160"/>
            <a:ext cx="304800" cy="0"/>
          </a:xfrm>
          <a:prstGeom prst="line">
            <a:avLst/>
          </a:prstGeom>
          <a:noFill/>
          <a:ln w="19050">
            <a:solidFill>
              <a:schemeClr val="accent4"/>
            </a:solidFill>
            <a:prstDash val="solid"/>
            <a:tailEnd type="triangle"/>
          </a:ln>
        </p:spPr>
      </p:sp>
      <p:sp>
        <p:nvSpPr>
          <p:cNvPr id="29" name="Relations note"/>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Arrows show references: a batch belongs to a course, and an enrollment points to a course and a batch.</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Home page</a:t>
            </a:r>
            <a:endParaRPr lang="en-US" sz="3400" dirty="0"/>
          </a:p>
        </p:txBody>
      </p:sp>
      <p:pic>
        <p:nvPicPr>
          <p:cNvPr id="3" name="Home screenshot" descr="Home page screenshot">    </p:cNvPr>
          <p:cNvPicPr>
            <a:picLocks noChangeAspect="1"/>
          </p:cNvPicPr>
          <p:nvPr/>
        </p:nvPicPr>
        <p:blipFill>
          <a:blip r:embed="rId1"/>
          <a:stretch>
            <a:fillRect/>
          </a:stretch>
        </p:blipFill>
        <p:spPr>
          <a:xfrm>
            <a:off x="457200" y="1188720"/>
            <a:ext cx="5760720" cy="2856282"/>
          </a:xfrm>
          <a:prstGeom prst="rect">
            <a:avLst/>
          </a:prstGeom>
        </p:spPr>
      </p:pic>
      <p:sp>
        <p:nvSpPr>
          <p:cNvPr id="4" name="Home frame"/>
          <p:cNvSpPr/>
          <p:nvPr/>
        </p:nvSpPr>
        <p:spPr>
          <a:xfrm>
            <a:off x="457200" y="1188720"/>
            <a:ext cx="5760720" cy="2856282"/>
          </a:xfrm>
          <a:prstGeom prst="rect">
            <a:avLst/>
          </a:prstGeom>
          <a:ln w="12700">
            <a:solidFill>
              <a:schemeClr val="accent4"/>
            </a:solidFill>
            <a:prstDash val="solid"/>
          </a:ln>
        </p:spPr>
      </p:sp>
      <p:sp>
        <p:nvSpPr>
          <p:cNvPr id="5" name="Home heading"/>
          <p:cNvSpPr txBox="1"/>
          <p:nvPr/>
        </p:nvSpPr>
        <p:spPr>
          <a:xfrm>
            <a:off x="6446520" y="1188720"/>
            <a:ext cx="224028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What it shows</a:t>
            </a:r>
            <a:endParaRPr lang="en-US" sz="1600" dirty="0"/>
          </a:p>
        </p:txBody>
      </p:sp>
      <p:sp>
        <p:nvSpPr>
          <p:cNvPr id="6" name="Home points"/>
          <p:cNvSpPr txBox="1"/>
          <p:nvPr/>
        </p:nvSpPr>
        <p:spPr>
          <a:xfrm>
            <a:off x="6446520" y="1600200"/>
            <a:ext cx="224028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Hero with tagline and two buttons</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Animated impact counters</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Six service cards from the database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Latest blog posts and a call to action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Inner pages</a:t>
            </a:r>
            <a:endParaRPr lang="en-US" sz="3400" dirty="0"/>
          </a:p>
        </p:txBody>
      </p:sp>
      <p:pic>
        <p:nvPicPr>
          <p:cNvPr id="3" name="Training screenshot" descr="Training detail screenshot">    </p:cNvPr>
          <p:cNvPicPr>
            <a:picLocks noChangeAspect="1"/>
          </p:cNvPicPr>
          <p:nvPr/>
        </p:nvPicPr>
        <p:blipFill>
          <a:blip r:embed="rId1"/>
          <a:stretch>
            <a:fillRect/>
          </a:stretch>
        </p:blipFill>
        <p:spPr>
          <a:xfrm>
            <a:off x="457200" y="1234440"/>
            <a:ext cx="3977640" cy="1984611"/>
          </a:xfrm>
          <a:prstGeom prst="rect">
            <a:avLst/>
          </a:prstGeom>
        </p:spPr>
      </p:pic>
      <p:sp>
        <p:nvSpPr>
          <p:cNvPr id="4" name="Training frame"/>
          <p:cNvSpPr/>
          <p:nvPr/>
        </p:nvSpPr>
        <p:spPr>
          <a:xfrm>
            <a:off x="457200" y="1234440"/>
            <a:ext cx="3977640" cy="1984611"/>
          </a:xfrm>
          <a:prstGeom prst="rect">
            <a:avLst/>
          </a:prstGeom>
          <a:ln w="12700">
            <a:solidFill>
              <a:schemeClr val="accent4"/>
            </a:solidFill>
            <a:prstDash val="solid"/>
          </a:ln>
        </p:spPr>
      </p:sp>
      <p:pic>
        <p:nvPicPr>
          <p:cNvPr id="5" name="Quote screenshot" descr="Quote result screenshot">    </p:cNvPr>
          <p:cNvPicPr>
            <a:picLocks noChangeAspect="1"/>
          </p:cNvPicPr>
          <p:nvPr/>
        </p:nvPicPr>
        <p:blipFill>
          <a:blip r:embed="rId2"/>
          <a:stretch>
            <a:fillRect/>
          </a:stretch>
        </p:blipFill>
        <p:spPr>
          <a:xfrm>
            <a:off x="4709160" y="1234440"/>
            <a:ext cx="3977640" cy="1964707"/>
          </a:xfrm>
          <a:prstGeom prst="rect">
            <a:avLst/>
          </a:prstGeom>
        </p:spPr>
      </p:pic>
      <p:sp>
        <p:nvSpPr>
          <p:cNvPr id="6" name="Quote frame"/>
          <p:cNvSpPr/>
          <p:nvPr/>
        </p:nvSpPr>
        <p:spPr>
          <a:xfrm>
            <a:off x="4709160" y="1234440"/>
            <a:ext cx="3977640" cy="1964707"/>
          </a:xfrm>
          <a:prstGeom prst="rect">
            <a:avLst/>
          </a:prstGeom>
          <a:ln w="12700">
            <a:solidFill>
              <a:schemeClr val="accent4"/>
            </a:solidFill>
            <a:prstDash val="solid"/>
          </a:ln>
        </p:spPr>
      </p:sp>
      <p:sp>
        <p:nvSpPr>
          <p:cNvPr id="7" name="Training caption"/>
          <p:cNvSpPr txBox="1"/>
          <p:nvPr/>
        </p:nvSpPr>
        <p:spPr>
          <a:xfrm>
            <a:off x="457200" y="3383280"/>
            <a:ext cx="3977640" cy="1005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Calibri" pitchFamily="34" charset="0"/>
                <a:ea typeface="Calibri" pitchFamily="34" charset="-122"/>
                <a:cs typeface="Calibri" pitchFamily="34" charset="-120"/>
              </a:rPr>
              <a:t>Training course detail</a:t>
            </a:r>
            <a:endParaRPr lang="en-US" sz="1400" dirty="0"/>
          </a:p>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Outline, tools, fee and upcoming batches come from the database.</a:t>
            </a:r>
            <a:endParaRPr lang="en-US" sz="1400" dirty="0"/>
          </a:p>
        </p:txBody>
      </p:sp>
      <p:sp>
        <p:nvSpPr>
          <p:cNvPr id="8" name="Quote caption"/>
          <p:cNvSpPr txBox="1"/>
          <p:nvPr/>
        </p:nvSpPr>
        <p:spPr>
          <a:xfrm>
            <a:off x="4709160" y="3383280"/>
            <a:ext cx="3977640" cy="1005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Calibri" pitchFamily="34" charset="0"/>
                <a:ea typeface="Calibri" pitchFamily="34" charset="-122"/>
                <a:cs typeface="Calibri" pitchFamily="34" charset="-120"/>
              </a:rPr>
              <a:t>Smart quote result</a:t>
            </a:r>
            <a:endParaRPr lang="en-US" sz="1400" dirty="0"/>
          </a:p>
          <a:p>
            <a:pPr indent="0" marL="0">
              <a:spcAft>
                <a:spcPts val="400"/>
              </a:spcAft>
              <a:buNone/>
            </a:pPr>
            <a:r>
              <a:rPr lang="en-US" sz="1400" dirty="0">
                <a:solidFill>
                  <a:schemeClr val="tx2"/>
                </a:solidFill>
                <a:latin typeface="Calibri" pitchFamily="34" charset="0"/>
                <a:ea typeface="Calibri" pitchFamily="34" charset="-122"/>
                <a:cs typeface="Calibri" pitchFamily="34" charset="-120"/>
              </a:rPr>
              <a:t>System size, panels, roof area and monthly savings (Module 1).</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Mobile view</a:t>
            </a:r>
            <a:endParaRPr lang="en-US" sz="3400" dirty="0"/>
          </a:p>
        </p:txBody>
      </p:sp>
      <p:pic>
        <p:nvPicPr>
          <p:cNvPr id="3" name="Mobile screenshot" descr="Mobile view screenshot">    </p:cNvPr>
          <p:cNvPicPr>
            <a:picLocks noChangeAspect="1"/>
          </p:cNvPicPr>
          <p:nvPr/>
        </p:nvPicPr>
        <p:blipFill>
          <a:blip r:embed="rId1"/>
          <a:stretch>
            <a:fillRect/>
          </a:stretch>
        </p:blipFill>
        <p:spPr>
          <a:xfrm>
            <a:off x="822960" y="1143000"/>
            <a:ext cx="1643520" cy="3520440"/>
          </a:xfrm>
          <a:prstGeom prst="rect">
            <a:avLst/>
          </a:prstGeom>
        </p:spPr>
      </p:pic>
      <p:sp>
        <p:nvSpPr>
          <p:cNvPr id="4" name="Mobile frame"/>
          <p:cNvSpPr/>
          <p:nvPr/>
        </p:nvSpPr>
        <p:spPr>
          <a:xfrm>
            <a:off x="822960" y="1143000"/>
            <a:ext cx="1643520" cy="3520440"/>
          </a:xfrm>
          <a:prstGeom prst="rect">
            <a:avLst/>
          </a:prstGeom>
          <a:ln w="12700">
            <a:solidFill>
              <a:schemeClr val="accent4"/>
            </a:solidFill>
            <a:prstDash val="solid"/>
          </a:ln>
        </p:spPr>
      </p:sp>
      <p:sp>
        <p:nvSpPr>
          <p:cNvPr id="5" name="Mobile heading"/>
          <p:cNvSpPr txBox="1"/>
          <p:nvPr/>
        </p:nvSpPr>
        <p:spPr>
          <a:xfrm>
            <a:off x="3108960" y="1188720"/>
            <a:ext cx="557784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Responsive by design</a:t>
            </a:r>
            <a:endParaRPr lang="en-US" sz="2000" dirty="0"/>
          </a:p>
        </p:txBody>
      </p:sp>
      <p:sp>
        <p:nvSpPr>
          <p:cNvPr id="6" name="Mobile points"/>
          <p:cNvSpPr txBox="1"/>
          <p:nvPr/>
        </p:nvSpPr>
        <p:spPr>
          <a:xfrm>
            <a:off x="3108960" y="1783080"/>
            <a:ext cx="557784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latin typeface="Calibri" pitchFamily="34" charset="0"/>
                <a:ea typeface="Calibri" pitchFamily="34" charset="-122"/>
                <a:cs typeface="Calibri" pitchFamily="34" charset="-120"/>
              </a:rPr>
              <a:t>The menu collapses into a hamburger button on small screens</a:t>
            </a:r>
            <a:endParaRPr lang="en-US" sz="1600" dirty="0"/>
          </a:p>
          <a:p>
            <a:pPr marL="342900" indent="-342900">
              <a:spcAft>
                <a:spcPts val="800"/>
              </a:spcAft>
              <a:buSzPct val="100000"/>
              <a:buChar char="•"/>
            </a:pPr>
            <a:r>
              <a:rPr lang="en-US" sz="1600" dirty="0">
                <a:solidFill>
                  <a:schemeClr val="tx2"/>
                </a:solidFill>
                <a:latin typeface="Calibri" pitchFamily="34" charset="0"/>
                <a:ea typeface="Calibri" pitchFamily="34" charset="-122"/>
                <a:cs typeface="Calibri" pitchFamily="34" charset="-120"/>
              </a:rPr>
              <a:t>Cards and sections stack into one column</a:t>
            </a:r>
            <a:endParaRPr lang="en-US" sz="1600" dirty="0"/>
          </a:p>
          <a:p>
            <a:pPr marL="342900" indent="-342900">
              <a:spcAft>
                <a:spcPts val="800"/>
              </a:spcAft>
              <a:buSzPct val="100000"/>
              <a:buChar char="•"/>
            </a:pPr>
            <a:r>
              <a:rPr lang="en-US" sz="1600" dirty="0">
                <a:solidFill>
                  <a:schemeClr val="tx2"/>
                </a:solidFill>
                <a:latin typeface="Calibri" pitchFamily="34" charset="0"/>
                <a:ea typeface="Calibri" pitchFamily="34" charset="-122"/>
                <a:cs typeface="Calibri" pitchFamily="34" charset="-120"/>
              </a:rPr>
              <a:t>Buttons stay large enough to tap</a:t>
            </a:r>
            <a:endParaRPr lang="en-US" sz="1600" dirty="0"/>
          </a:p>
          <a:p>
            <a:pPr marL="342900" indent="-342900">
              <a:spcAft>
                <a:spcPts val="800"/>
              </a:spcAft>
              <a:buSzPct val="100000"/>
              <a:buChar char="•"/>
            </a:pPr>
            <a:r>
              <a:rPr lang="en-US" sz="1600" dirty="0">
                <a:solidFill>
                  <a:schemeClr val="tx2"/>
                </a:solidFill>
                <a:latin typeface="Calibri" pitchFamily="34" charset="0"/>
                <a:ea typeface="Calibri" pitchFamily="34" charset="-122"/>
                <a:cs typeface="Calibri" pitchFamily="34" charset="-120"/>
              </a:rPr>
              <a:t>The WhatsApp button stays visible on every page</a:t>
            </a:r>
            <a:endParaRPr lang="en-US" sz="1600" dirty="0"/>
          </a:p>
          <a:p>
            <a:pPr marL="342900" indent="-342900">
              <a:spcAft>
                <a:spcPts val="800"/>
              </a:spcAft>
              <a:buSzPct val="100000"/>
              <a:buChar char="•"/>
            </a:pPr>
            <a:r>
              <a:rPr lang="en-US" sz="1600" dirty="0">
                <a:solidFill>
                  <a:schemeClr val="tx2"/>
                </a:solidFill>
                <a:latin typeface="Calibri" pitchFamily="34" charset="0"/>
                <a:ea typeface="Calibri" pitchFamily="34" charset="-122"/>
                <a:cs typeface="Calibri" pitchFamily="34" charset="-120"/>
              </a:rPr>
              <a:t>Checked in Chrome DevTools device mode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Admin panel</a:t>
            </a:r>
            <a:endParaRPr lang="en-US" sz="3400" dirty="0"/>
          </a:p>
        </p:txBody>
      </p:sp>
      <p:pic>
        <p:nvPicPr>
          <p:cNvPr id="3" name="Admin login screenshot" descr="Admin login screenshot">    </p:cNvPr>
          <p:cNvPicPr>
            <a:picLocks noChangeAspect="1"/>
          </p:cNvPicPr>
          <p:nvPr/>
        </p:nvPicPr>
        <p:blipFill>
          <a:blip r:embed="rId1"/>
          <a:stretch>
            <a:fillRect/>
          </a:stretch>
        </p:blipFill>
        <p:spPr>
          <a:xfrm>
            <a:off x="457200" y="1188720"/>
            <a:ext cx="3977640" cy="1810469"/>
          </a:xfrm>
          <a:prstGeom prst="rect">
            <a:avLst/>
          </a:prstGeom>
        </p:spPr>
      </p:pic>
      <p:sp>
        <p:nvSpPr>
          <p:cNvPr id="4" name="Admin login frame"/>
          <p:cNvSpPr/>
          <p:nvPr/>
        </p:nvSpPr>
        <p:spPr>
          <a:xfrm>
            <a:off x="457200" y="1188720"/>
            <a:ext cx="3977640" cy="1810469"/>
          </a:xfrm>
          <a:prstGeom prst="rect">
            <a:avLst/>
          </a:prstGeom>
          <a:ln w="12700">
            <a:solidFill>
              <a:schemeClr val="accent4"/>
            </a:solidFill>
            <a:prstDash val="solid"/>
          </a:ln>
        </p:spPr>
      </p:sp>
      <p:pic>
        <p:nvPicPr>
          <p:cNvPr id="5" name="Leads screenshot" descr="Leads table screenshot">    </p:cNvPr>
          <p:cNvPicPr>
            <a:picLocks noChangeAspect="1"/>
          </p:cNvPicPr>
          <p:nvPr/>
        </p:nvPicPr>
        <p:blipFill>
          <a:blip r:embed="rId2"/>
          <a:stretch>
            <a:fillRect/>
          </a:stretch>
        </p:blipFill>
        <p:spPr>
          <a:xfrm>
            <a:off x="4709160" y="1188720"/>
            <a:ext cx="3977640" cy="1812543"/>
          </a:xfrm>
          <a:prstGeom prst="rect">
            <a:avLst/>
          </a:prstGeom>
        </p:spPr>
      </p:pic>
      <p:sp>
        <p:nvSpPr>
          <p:cNvPr id="6" name="Leads frame"/>
          <p:cNvSpPr/>
          <p:nvPr/>
        </p:nvSpPr>
        <p:spPr>
          <a:xfrm>
            <a:off x="4709160" y="1188720"/>
            <a:ext cx="3977640" cy="1812543"/>
          </a:xfrm>
          <a:prstGeom prst="rect">
            <a:avLst/>
          </a:prstGeom>
          <a:ln w="12700">
            <a:solidFill>
              <a:schemeClr val="accent4"/>
            </a:solidFill>
            <a:prstDash val="solid"/>
          </a:ln>
        </p:spPr>
      </p:sp>
      <p:sp>
        <p:nvSpPr>
          <p:cNvPr id="7" name="Login caption"/>
          <p:cNvSpPr txBox="1"/>
          <p:nvPr/>
        </p:nvSpPr>
        <p:spPr>
          <a:xfrm>
            <a:off x="457200" y="3154680"/>
            <a:ext cx="3977640" cy="7315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latin typeface="Calibri" pitchFamily="34" charset="0"/>
                <a:ea typeface="Calibri" pitchFamily="34" charset="-122"/>
                <a:cs typeface="Calibri" pitchFamily="34" charset="-120"/>
              </a:rPr>
              <a:t>Secure login</a:t>
            </a:r>
            <a:endParaRPr lang="en-US" sz="1400" dirty="0"/>
          </a:p>
          <a:p>
            <a:pPr indent="0" marL="0">
              <a:spcAft>
                <a:spcPts val="300"/>
              </a:spcAft>
              <a:buNone/>
            </a:pPr>
            <a:r>
              <a:rPr lang="en-US" sz="1400" dirty="0">
                <a:solidFill>
                  <a:schemeClr val="tx2"/>
                </a:solidFill>
                <a:latin typeface="Calibri" pitchFamily="34" charset="0"/>
                <a:ea typeface="Calibri" pitchFamily="34" charset="-122"/>
                <a:cs typeface="Calibri" pitchFamily="34" charset="-120"/>
              </a:rPr>
              <a:t>JWT token. Every admin route needs it.</a:t>
            </a:r>
            <a:endParaRPr lang="en-US" sz="1400" dirty="0"/>
          </a:p>
        </p:txBody>
      </p:sp>
      <p:sp>
        <p:nvSpPr>
          <p:cNvPr id="8" name="Leads caption"/>
          <p:cNvSpPr txBox="1"/>
          <p:nvPr/>
        </p:nvSpPr>
        <p:spPr>
          <a:xfrm>
            <a:off x="4709160" y="3154680"/>
            <a:ext cx="3977640" cy="7315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latin typeface="Calibri" pitchFamily="34" charset="0"/>
                <a:ea typeface="Calibri" pitchFamily="34" charset="-122"/>
                <a:cs typeface="Calibri" pitchFamily="34" charset="-120"/>
              </a:rPr>
              <a:t>Leads management</a:t>
            </a:r>
            <a:endParaRPr lang="en-US" sz="1400" dirty="0"/>
          </a:p>
          <a:p>
            <a:pPr indent="0" marL="0">
              <a:spcAft>
                <a:spcPts val="300"/>
              </a:spcAft>
              <a:buNone/>
            </a:pPr>
            <a:r>
              <a:rPr lang="en-US" sz="1400" dirty="0">
                <a:solidFill>
                  <a:schemeClr val="tx2"/>
                </a:solidFill>
                <a:latin typeface="Calibri" pitchFamily="34" charset="0"/>
                <a:ea typeface="Calibri" pitchFamily="34" charset="-122"/>
                <a:cs typeface="Calibri" pitchFamily="34" charset="-120"/>
              </a:rPr>
              <a:t>Search, filter and change status: New, Contacted, Closed.</a:t>
            </a:r>
            <a:endParaRPr lang="en-US" sz="1400" dirty="0"/>
          </a:p>
        </p:txBody>
      </p:sp>
      <p:sp>
        <p:nvSpPr>
          <p:cNvPr id="9" name="Admin features"/>
          <p:cNvSpPr txBox="1"/>
          <p:nvPr/>
        </p:nvSpPr>
        <p:spPr>
          <a:xfrm>
            <a:off x="457200" y="4023360"/>
            <a:ext cx="8229600" cy="5943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Also in the admin: dashboard counts, add, edit and delete for services, courses, batches, projects and blog posts, image upload and an enrollments table.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Module 1: Smart quote form</a:t>
            </a:r>
            <a:endParaRPr lang="en-US" sz="3400" dirty="0"/>
          </a:p>
        </p:txBody>
      </p:sp>
      <p:pic>
        <p:nvPicPr>
          <p:cNvPr id="3" name="Module screenshot" descr="Smart quote result screenshot">    </p:cNvPr>
          <p:cNvPicPr>
            <a:picLocks noChangeAspect="1"/>
          </p:cNvPicPr>
          <p:nvPr/>
        </p:nvPicPr>
        <p:blipFill>
          <a:blip r:embed="rId1"/>
          <a:stretch>
            <a:fillRect/>
          </a:stretch>
        </p:blipFill>
        <p:spPr>
          <a:xfrm>
            <a:off x="457200" y="1188720"/>
            <a:ext cx="4023360" cy="1987290"/>
          </a:xfrm>
          <a:prstGeom prst="rect">
            <a:avLst/>
          </a:prstGeom>
        </p:spPr>
      </p:pic>
      <p:sp>
        <p:nvSpPr>
          <p:cNvPr id="4" name="Module frame"/>
          <p:cNvSpPr/>
          <p:nvPr/>
        </p:nvSpPr>
        <p:spPr>
          <a:xfrm>
            <a:off x="457200" y="1188720"/>
            <a:ext cx="4023360" cy="1987290"/>
          </a:xfrm>
          <a:prstGeom prst="rect">
            <a:avLst/>
          </a:prstGeom>
          <a:ln w="12700">
            <a:solidFill>
              <a:schemeClr val="accent4"/>
            </a:solidFill>
            <a:prstDash val="solid"/>
          </a:ln>
        </p:spPr>
      </p:sp>
      <p:sp>
        <p:nvSpPr>
          <p:cNvPr id="5" name="Example callout"/>
          <p:cNvSpPr/>
          <p:nvPr/>
        </p:nvSpPr>
        <p:spPr>
          <a:xfrm>
            <a:off x="457200" y="3337560"/>
            <a:ext cx="4023360" cy="1097280"/>
          </a:xfrm>
          <a:prstGeom prst="roundRect">
            <a:avLst>
              <a:gd name="adj" fmla="val 6667"/>
            </a:avLst>
          </a:prstGeom>
          <a:solidFill>
            <a:schemeClr val="accent1"/>
          </a:solidFill>
          <a:ln/>
        </p:spPr>
      </p:sp>
      <p:sp>
        <p:nvSpPr>
          <p:cNvPr id="6" name="Example text"/>
          <p:cNvSpPr txBox="1"/>
          <p:nvPr/>
        </p:nvSpPr>
        <p:spPr>
          <a:xfrm>
            <a:off x="640080" y="3474720"/>
            <a:ext cx="3657600" cy="86868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latin typeface="Calibri" pitchFamily="34" charset="0"/>
                <a:ea typeface="Calibri" pitchFamily="34" charset="-122"/>
                <a:cs typeface="Calibri" pitchFamily="34" charset="-120"/>
              </a:rPr>
              <a:t>600 units per month gives 5 kW</a:t>
            </a:r>
            <a:endParaRPr lang="en-US" sz="1400" dirty="0"/>
          </a:p>
          <a:p>
            <a:pPr indent="0" marL="0">
              <a:spcAft>
                <a:spcPts val="400"/>
              </a:spcAft>
              <a:buNone/>
            </a:pPr>
            <a:r>
              <a:rPr lang="en-US" sz="1400" dirty="0">
                <a:solidFill>
                  <a:schemeClr val="bg1"/>
                </a:solidFill>
                <a:latin typeface="Calibri" pitchFamily="34" charset="0"/>
                <a:ea typeface="Calibri" pitchFamily="34" charset="-122"/>
                <a:cs typeface="Calibri" pitchFamily="34" charset="-120"/>
              </a:rPr>
              <a:t>10 panels, 500 sq ft, about PKR 27,000 saved per month</a:t>
            </a:r>
            <a:endParaRPr lang="en-US" sz="1400" dirty="0"/>
          </a:p>
        </p:txBody>
      </p:sp>
      <p:sp>
        <p:nvSpPr>
          <p:cNvPr id="7" name="Step 1"/>
          <p:cNvSpPr/>
          <p:nvPr/>
        </p:nvSpPr>
        <p:spPr>
          <a:xfrm>
            <a:off x="4754880" y="1188720"/>
            <a:ext cx="457200" cy="457200"/>
          </a:xfrm>
          <a:prstGeom prst="ellipse">
            <a:avLst/>
          </a:prstGeom>
          <a:solidFill>
            <a:schemeClr val="accent1"/>
          </a:solidFill>
          <a:ln/>
        </p:spPr>
      </p:sp>
      <p:sp>
        <p:nvSpPr>
          <p:cNvPr id="8" name="Step 1 number"/>
          <p:cNvSpPr txBox="1"/>
          <p:nvPr/>
        </p:nvSpPr>
        <p:spPr>
          <a:xfrm>
            <a:off x="4754880" y="11887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9" name="Step title 1"/>
          <p:cNvSpPr txBox="1"/>
          <p:nvPr/>
        </p:nvSpPr>
        <p:spPr>
          <a:xfrm>
            <a:off x="5394960" y="1188720"/>
            <a:ext cx="329184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Three-step form</a:t>
            </a:r>
            <a:endParaRPr lang="en-US" sz="1600" dirty="0"/>
          </a:p>
        </p:txBody>
      </p:sp>
      <p:sp>
        <p:nvSpPr>
          <p:cNvPr id="10" name="Step text 1"/>
          <p:cNvSpPr txBox="1"/>
          <p:nvPr/>
        </p:nvSpPr>
        <p:spPr>
          <a:xfrm>
            <a:off x="5394960" y="1508760"/>
            <a:ext cx="329184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City, property, bill or monthly units, then contact details.</a:t>
            </a:r>
            <a:endParaRPr lang="en-US" sz="1400" dirty="0"/>
          </a:p>
        </p:txBody>
      </p:sp>
      <p:sp>
        <p:nvSpPr>
          <p:cNvPr id="11" name="Step 2"/>
          <p:cNvSpPr/>
          <p:nvPr/>
        </p:nvSpPr>
        <p:spPr>
          <a:xfrm>
            <a:off x="4754880" y="2194560"/>
            <a:ext cx="457200" cy="457200"/>
          </a:xfrm>
          <a:prstGeom prst="ellipse">
            <a:avLst/>
          </a:prstGeom>
          <a:solidFill>
            <a:schemeClr val="accent1"/>
          </a:solidFill>
          <a:ln/>
        </p:spPr>
      </p:sp>
      <p:sp>
        <p:nvSpPr>
          <p:cNvPr id="12" name="Step 2 number"/>
          <p:cNvSpPr txBox="1"/>
          <p:nvPr/>
        </p:nvSpPr>
        <p:spPr>
          <a:xfrm>
            <a:off x="4754880"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3" name="Step title 2"/>
          <p:cNvSpPr txBox="1"/>
          <p:nvPr/>
        </p:nvSpPr>
        <p:spPr>
          <a:xfrm>
            <a:off x="5394960" y="2194560"/>
            <a:ext cx="329184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One config file</a:t>
            </a:r>
            <a:endParaRPr lang="en-US" sz="1600" dirty="0"/>
          </a:p>
        </p:txBody>
      </p:sp>
      <p:sp>
        <p:nvSpPr>
          <p:cNvPr id="14" name="Step text 2"/>
          <p:cNvSpPr txBox="1"/>
          <p:nvPr/>
        </p:nvSpPr>
        <p:spPr>
          <a:xfrm>
            <a:off x="5394960" y="2514600"/>
            <a:ext cx="329184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Formula values live in solarConfig.js, so they are easy to adjust.</a:t>
            </a:r>
            <a:endParaRPr lang="en-US" sz="1400" dirty="0"/>
          </a:p>
        </p:txBody>
      </p:sp>
      <p:sp>
        <p:nvSpPr>
          <p:cNvPr id="15" name="Step 3"/>
          <p:cNvSpPr/>
          <p:nvPr/>
        </p:nvSpPr>
        <p:spPr>
          <a:xfrm>
            <a:off x="4754880" y="3200400"/>
            <a:ext cx="457200" cy="457200"/>
          </a:xfrm>
          <a:prstGeom prst="ellipse">
            <a:avLst/>
          </a:prstGeom>
          <a:solidFill>
            <a:schemeClr val="accent1"/>
          </a:solidFill>
          <a:ln/>
        </p:spPr>
      </p:sp>
      <p:sp>
        <p:nvSpPr>
          <p:cNvPr id="16" name="Step 3 number"/>
          <p:cNvSpPr txBox="1"/>
          <p:nvPr/>
        </p:nvSpPr>
        <p:spPr>
          <a:xfrm>
            <a:off x="475488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7" name="Step title 3"/>
          <p:cNvSpPr txBox="1"/>
          <p:nvPr/>
        </p:nvSpPr>
        <p:spPr>
          <a:xfrm>
            <a:off x="5394960" y="3200400"/>
            <a:ext cx="329184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Saved as a lead</a:t>
            </a:r>
            <a:endParaRPr lang="en-US" sz="1600" dirty="0"/>
          </a:p>
        </p:txBody>
      </p:sp>
      <p:sp>
        <p:nvSpPr>
          <p:cNvPr id="18" name="Step text 3"/>
          <p:cNvSpPr txBox="1"/>
          <p:nvPr/>
        </p:nvSpPr>
        <p:spPr>
          <a:xfrm>
            <a:off x="5394960" y="3520440"/>
            <a:ext cx="329184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Every submission appears in the admin Leads table.</a:t>
            </a:r>
            <a:endParaRPr lang="en-US" sz="1400" dirty="0"/>
          </a:p>
        </p:txBody>
      </p:sp>
      <p:sp>
        <p:nvSpPr>
          <p:cNvPr id="19" name="Module note"/>
          <p:cNvSpPr txBox="1"/>
          <p:nvPr/>
        </p:nvSpPr>
        <p:spPr>
          <a:xfrm>
            <a:off x="4754880" y="4251960"/>
            <a:ext cx="3931920" cy="36576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This is a rough estimate. The tariff value is a placeholder.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Challenges and learning</a:t>
            </a:r>
            <a:endParaRPr lang="en-US" sz="3400" dirty="0"/>
          </a:p>
        </p:txBody>
      </p:sp>
      <p:sp>
        <p:nvSpPr>
          <p:cNvPr id="3" name="Challenges heading"/>
          <p:cNvSpPr txBox="1"/>
          <p:nvPr/>
        </p:nvSpPr>
        <p:spPr>
          <a:xfrm>
            <a:off x="457200" y="1097280"/>
            <a:ext cx="4937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Challenges and how I solved them</a:t>
            </a:r>
            <a:endParaRPr lang="en-US" sz="1600" dirty="0"/>
          </a:p>
        </p:txBody>
      </p:sp>
      <p:sp>
        <p:nvSpPr>
          <p:cNvPr id="4" name="Short timeline circle"/>
          <p:cNvSpPr/>
          <p:nvPr/>
        </p:nvSpPr>
        <p:spPr>
          <a:xfrm>
            <a:off x="457200" y="1645920"/>
            <a:ext cx="548640" cy="548640"/>
          </a:xfrm>
          <a:prstGeom prst="ellipse">
            <a:avLst/>
          </a:prstGeom>
          <a:solidFill>
            <a:schemeClr val="accent1"/>
          </a:solidFill>
          <a:ln/>
        </p:spPr>
      </p:sp>
      <p:pic>
        <p:nvPicPr>
          <p:cNvPr id="5" name="Short timeline icon" descr="Short timeline">    </p:cNvPr>
          <p:cNvPicPr>
            <a:picLocks noChangeAspect="1"/>
          </p:cNvPicPr>
          <p:nvPr/>
        </p:nvPicPr>
        <p:blipFill>
          <a:blip r:embed="rId1"/>
          <a:stretch>
            <a:fillRect/>
          </a:stretch>
        </p:blipFill>
        <p:spPr>
          <a:xfrm>
            <a:off x="594360" y="1783080"/>
            <a:ext cx="274320" cy="274320"/>
          </a:xfrm>
          <a:prstGeom prst="rect">
            <a:avLst/>
          </a:prstGeom>
        </p:spPr>
      </p:pic>
      <p:sp>
        <p:nvSpPr>
          <p:cNvPr id="6" name="Short timeline title"/>
          <p:cNvSpPr txBox="1"/>
          <p:nvPr/>
        </p:nvSpPr>
        <p:spPr>
          <a:xfrm>
            <a:off x="1234440" y="1554480"/>
            <a:ext cx="416052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Short timeline</a:t>
            </a:r>
            <a:endParaRPr lang="en-US" sz="1400" dirty="0"/>
          </a:p>
        </p:txBody>
      </p:sp>
      <p:sp>
        <p:nvSpPr>
          <p:cNvPr id="7" name="Short timeline text"/>
          <p:cNvSpPr txBox="1"/>
          <p:nvPr/>
        </p:nvSpPr>
        <p:spPr>
          <a:xfrm>
            <a:off x="1234440" y="1847088"/>
            <a:ext cx="416052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One generic CRUD helper and one admin CrudPage serve five resources.</a:t>
            </a:r>
            <a:endParaRPr lang="en-US" sz="1400" dirty="0"/>
          </a:p>
        </p:txBody>
      </p:sp>
      <p:sp>
        <p:nvSpPr>
          <p:cNvPr id="8" name="Git setup circle"/>
          <p:cNvSpPr/>
          <p:nvPr/>
        </p:nvSpPr>
        <p:spPr>
          <a:xfrm>
            <a:off x="457200" y="2697480"/>
            <a:ext cx="548640" cy="548640"/>
          </a:xfrm>
          <a:prstGeom prst="ellipse">
            <a:avLst/>
          </a:prstGeom>
          <a:solidFill>
            <a:schemeClr val="accent1"/>
          </a:solidFill>
          <a:ln/>
        </p:spPr>
      </p:sp>
      <p:pic>
        <p:nvPicPr>
          <p:cNvPr id="9" name="Git setup icon" descr="Git setup">    </p:cNvPr>
          <p:cNvPicPr>
            <a:picLocks noChangeAspect="1"/>
          </p:cNvPicPr>
          <p:nvPr/>
        </p:nvPicPr>
        <p:blipFill>
          <a:blip r:embed="rId2"/>
          <a:stretch>
            <a:fillRect/>
          </a:stretch>
        </p:blipFill>
        <p:spPr>
          <a:xfrm>
            <a:off x="594360" y="2834640"/>
            <a:ext cx="274320" cy="274320"/>
          </a:xfrm>
          <a:prstGeom prst="rect">
            <a:avLst/>
          </a:prstGeom>
        </p:spPr>
      </p:pic>
      <p:sp>
        <p:nvSpPr>
          <p:cNvPr id="10" name="Git setup title"/>
          <p:cNvSpPr txBox="1"/>
          <p:nvPr/>
        </p:nvSpPr>
        <p:spPr>
          <a:xfrm>
            <a:off x="1234440" y="2606040"/>
            <a:ext cx="416052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Git setup</a:t>
            </a:r>
            <a:endParaRPr lang="en-US" sz="1400" dirty="0"/>
          </a:p>
        </p:txBody>
      </p:sp>
      <p:sp>
        <p:nvSpPr>
          <p:cNvPr id="11" name="Git setup text"/>
          <p:cNvSpPr txBox="1"/>
          <p:nvPr/>
        </p:nvSpPr>
        <p:spPr>
          <a:xfrm>
            <a:off x="1234440" y="2898648"/>
            <a:ext cx="416052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folder was not a repository at first. I ran git init, added the remote and checked .gitignore before pushing.</a:t>
            </a:r>
            <a:endParaRPr lang="en-US" sz="1400" dirty="0"/>
          </a:p>
        </p:txBody>
      </p:sp>
      <p:sp>
        <p:nvSpPr>
          <p:cNvPr id="12" name="Keeping secrets safe circle"/>
          <p:cNvSpPr/>
          <p:nvPr/>
        </p:nvSpPr>
        <p:spPr>
          <a:xfrm>
            <a:off x="457200" y="3749040"/>
            <a:ext cx="548640" cy="548640"/>
          </a:xfrm>
          <a:prstGeom prst="ellipse">
            <a:avLst/>
          </a:prstGeom>
          <a:solidFill>
            <a:schemeClr val="accent1"/>
          </a:solidFill>
          <a:ln/>
        </p:spPr>
      </p:sp>
      <p:pic>
        <p:nvPicPr>
          <p:cNvPr id="13" name="Keeping secrets safe icon" descr="Keeping secrets safe">    </p:cNvPr>
          <p:cNvPicPr>
            <a:picLocks noChangeAspect="1"/>
          </p:cNvPicPr>
          <p:nvPr/>
        </p:nvPicPr>
        <p:blipFill>
          <a:blip r:embed="rId3"/>
          <a:stretch>
            <a:fillRect/>
          </a:stretch>
        </p:blipFill>
        <p:spPr>
          <a:xfrm>
            <a:off x="594360" y="3886200"/>
            <a:ext cx="274320" cy="274320"/>
          </a:xfrm>
          <a:prstGeom prst="rect">
            <a:avLst/>
          </a:prstGeom>
        </p:spPr>
      </p:pic>
      <p:sp>
        <p:nvSpPr>
          <p:cNvPr id="14" name="Keeping secrets safe title"/>
          <p:cNvSpPr txBox="1"/>
          <p:nvPr/>
        </p:nvSpPr>
        <p:spPr>
          <a:xfrm>
            <a:off x="1234440" y="3657600"/>
            <a:ext cx="416052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Keeping secrets safe</a:t>
            </a:r>
            <a:endParaRPr lang="en-US" sz="1400" dirty="0"/>
          </a:p>
        </p:txBody>
      </p:sp>
      <p:sp>
        <p:nvSpPr>
          <p:cNvPr id="15" name="Keeping secrets safe text"/>
          <p:cNvSpPr txBox="1"/>
          <p:nvPr/>
        </p:nvSpPr>
        <p:spPr>
          <a:xfrm>
            <a:off x="1234440" y="3950208"/>
            <a:ext cx="416052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.env file stays local. A .env.example file lists the variables.</a:t>
            </a:r>
            <a:endParaRPr lang="en-US" sz="1400" dirty="0"/>
          </a:p>
        </p:txBody>
      </p:sp>
      <p:sp>
        <p:nvSpPr>
          <p:cNvPr id="16" name="Learning card"/>
          <p:cNvSpPr/>
          <p:nvPr/>
        </p:nvSpPr>
        <p:spPr>
          <a:xfrm>
            <a:off x="5669280" y="1097280"/>
            <a:ext cx="3017520" cy="3337560"/>
          </a:xfrm>
          <a:prstGeom prst="roundRect">
            <a:avLst>
              <a:gd name="adj" fmla="val 2424"/>
            </a:avLst>
          </a:prstGeom>
          <a:solidFill>
            <a:schemeClr val="accent1"/>
          </a:solidFill>
          <a:ln/>
        </p:spPr>
      </p:sp>
      <p:sp>
        <p:nvSpPr>
          <p:cNvPr id="17" name="Learning heading"/>
          <p:cNvSpPr txBox="1"/>
          <p:nvPr/>
        </p:nvSpPr>
        <p:spPr>
          <a:xfrm>
            <a:off x="5897880" y="1280160"/>
            <a:ext cx="2560320" cy="32004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What I learned</a:t>
            </a:r>
            <a:endParaRPr lang="en-US" sz="1800" dirty="0"/>
          </a:p>
        </p:txBody>
      </p:sp>
      <p:sp>
        <p:nvSpPr>
          <p:cNvPr id="18" name="Learning points"/>
          <p:cNvSpPr txBox="1"/>
          <p:nvPr/>
        </p:nvSpPr>
        <p:spPr>
          <a:xfrm>
            <a:off x="5897880" y="1783080"/>
            <a:ext cx="26060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REST APIs with validation</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JWT login and protected routes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MongoDB with Mongoose</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React Router and Tailwind</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Reusable components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40664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Arial" pitchFamily="34" charset="0"/>
                <a:ea typeface="Arial" pitchFamily="34" charset="-122"/>
                <a:cs typeface="Arial" pitchFamily="34" charset="-120"/>
              </a:rPr>
              <a:t>Links</a:t>
            </a:r>
            <a:endParaRPr lang="en-US" sz="3400" dirty="0"/>
          </a:p>
        </p:txBody>
      </p:sp>
      <p:sp>
        <p:nvSpPr>
          <p:cNvPr id="3" name="Repo card"/>
          <p:cNvSpPr/>
          <p:nvPr/>
        </p:nvSpPr>
        <p:spPr>
          <a:xfrm>
            <a:off x="457200" y="1188720"/>
            <a:ext cx="8229600" cy="1051560"/>
          </a:xfrm>
          <a:prstGeom prst="roundRect">
            <a:avLst>
              <a:gd name="adj" fmla="val 6957"/>
            </a:avLst>
          </a:prstGeom>
          <a:solidFill>
            <a:schemeClr val="bg1"/>
          </a:solidFill>
          <a:ln/>
        </p:spPr>
      </p:sp>
      <p:sp>
        <p:nvSpPr>
          <p:cNvPr id="4" name="Repo heading"/>
          <p:cNvSpPr txBox="1"/>
          <p:nvPr/>
        </p:nvSpPr>
        <p:spPr>
          <a:xfrm>
            <a:off x="685800" y="1325880"/>
            <a:ext cx="777240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GitHub repository</a:t>
            </a:r>
            <a:endParaRPr lang="en-US" sz="1600" dirty="0"/>
          </a:p>
        </p:txBody>
      </p:sp>
      <p:sp>
        <p:nvSpPr>
          <p:cNvPr id="5" name="Repo link">
            <a:hlinkClick r:id="rId1" tooltip="Open the repository"/>
          </p:cNvPr>
          <p:cNvSpPr txBox="1"/>
          <p:nvPr/>
        </p:nvSpPr>
        <p:spPr>
          <a:xfrm>
            <a:off x="685800" y="1737360"/>
            <a:ext cx="7772400" cy="274320"/>
          </a:xfrm>
          <a:prstGeom prst="rect">
            <a:avLst/>
          </a:prstGeom>
          <a:noFill/>
          <a:ln/>
        </p:spPr>
        <p:txBody>
          <a:bodyPr wrap="square" lIns="0" tIns="0" rIns="0" bIns="0" rtlCol="0" anchor="t"/>
          <a:lstStyle/>
          <a:p>
            <a:pPr indent="0" marL="0">
              <a:buNone/>
            </a:pPr>
            <a:r>
              <a:rPr lang="en-US" sz="1200" u="sng" dirty="0">
                <a:solidFill>
                  <a:schemeClr val="tx2"/>
                </a:solidFill>
                <a:latin typeface="Calibri" pitchFamily="34" charset="0"/>
                <a:ea typeface="Calibri" pitchFamily="34" charset="-122"/>
                <a:cs typeface="Calibri" pitchFamily="34" charset="-120"/>
                <a:hlinkClick r:id="rId1" invalidUrl="" action="" tgtFrame="" tooltip="Open the repository" history="1" highlightClick="0" endSnd="0">
                  <a:extLst>
                    <a:ext uri="{A12FA001-AC4F-418D-AE19-62706E023703}">
                      <ahyp:hlinkClr xmlns:ahyp="http://schemas.microsoft.com/office/drawing/2018/hyperlinkcolor" val="tx"/>
                    </a:ext>
                  </a:extLst>
                </a:hlinkClick>
              </a:rPr>
              <a:t>https://github.com/amna-butt-code/codesaviours-ETraining-ET-FSD-AB-07-METechWebsite</a:t>
            </a:r>
            <a:endParaRPr lang="en-US" sz="1200" dirty="0"/>
          </a:p>
        </p:txBody>
      </p:sp>
      <p:sp>
        <p:nvSpPr>
          <p:cNvPr id="6" name="Video card"/>
          <p:cNvSpPr/>
          <p:nvPr/>
        </p:nvSpPr>
        <p:spPr>
          <a:xfrm>
            <a:off x="457200" y="2377440"/>
            <a:ext cx="8229600" cy="1051560"/>
          </a:xfrm>
          <a:prstGeom prst="roundRect">
            <a:avLst>
              <a:gd name="adj" fmla="val 6957"/>
            </a:avLst>
          </a:prstGeom>
          <a:solidFill>
            <a:schemeClr val="bg1"/>
          </a:solidFill>
          <a:ln/>
        </p:spPr>
      </p:sp>
      <p:sp>
        <p:nvSpPr>
          <p:cNvPr id="7" name="Video heading"/>
          <p:cNvSpPr txBox="1"/>
          <p:nvPr/>
        </p:nvSpPr>
        <p:spPr>
          <a:xfrm>
            <a:off x="685800" y="2514600"/>
            <a:ext cx="777240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Demo video</a:t>
            </a:r>
            <a:endParaRPr lang="en-US" sz="1600" dirty="0"/>
          </a:p>
        </p:txBody>
      </p:sp>
      <p:sp>
        <p:nvSpPr>
          <p:cNvPr id="8" name="Video link">
            <a:hlinkClick r:id="rId2" tooltip="Open the demo folder"/>
          </p:cNvPr>
          <p:cNvSpPr txBox="1"/>
          <p:nvPr/>
        </p:nvSpPr>
        <p:spPr>
          <a:xfrm>
            <a:off x="685800" y="2926080"/>
            <a:ext cx="7772400" cy="274320"/>
          </a:xfrm>
          <a:prstGeom prst="rect">
            <a:avLst/>
          </a:prstGeom>
          <a:noFill/>
          <a:ln/>
        </p:spPr>
        <p:txBody>
          <a:bodyPr wrap="square" lIns="0" tIns="0" rIns="0" bIns="0" rtlCol="0" anchor="t"/>
          <a:lstStyle/>
          <a:p>
            <a:pPr indent="0" marL="0">
              <a:buNone/>
            </a:pPr>
            <a:r>
              <a:rPr lang="en-US" sz="1200" u="sng" dirty="0">
                <a:solidFill>
                  <a:schemeClr val="tx2"/>
                </a:solidFill>
                <a:latin typeface="Calibri" pitchFamily="34" charset="0"/>
                <a:ea typeface="Calibri" pitchFamily="34" charset="-122"/>
                <a:cs typeface="Calibri" pitchFamily="34" charset="-120"/>
                <a:hlinkClick r:id="rId2" invalidUrl="" action="" tgtFrame="" tooltip="Open the demo folder" history="1" highlightClick="0" endSnd="0">
                  <a:extLst>
                    <a:ext uri="{A12FA001-AC4F-418D-AE19-62706E023703}">
                      <ahyp:hlinkClr xmlns:ahyp="http://schemas.microsoft.com/office/drawing/2018/hyperlinkcolor" val="tx"/>
                    </a:ext>
                  </a:extLst>
                </a:hlinkClick>
              </a:rPr>
              <a:t>https://github.com/amna-butt-code/codesaviours-ETraining-ET-FSD-AB-07-METechWebsite/tree/main/demo</a:t>
            </a:r>
            <a:endParaRPr lang="en-US" sz="1200" dirty="0"/>
          </a:p>
        </p:txBody>
      </p:sp>
      <p:sp>
        <p:nvSpPr>
          <p:cNvPr id="9" name="Video note"/>
          <p:cNvSpPr txBox="1"/>
          <p:nvPr/>
        </p:nvSpPr>
        <p:spPr>
          <a:xfrm>
            <a:off x="685800" y="3154680"/>
            <a:ext cx="7772400" cy="22860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Also uploaded to Google Classroom</a:t>
            </a:r>
            <a:endParaRPr lang="en-US" sz="1200" dirty="0"/>
          </a:p>
        </p:txBody>
      </p:sp>
      <p:sp>
        <p:nvSpPr>
          <p:cNvPr id="10" name="Thanks"/>
          <p:cNvSpPr txBox="1"/>
          <p:nvPr/>
        </p:nvSpPr>
        <p:spPr>
          <a:xfrm>
            <a:off x="457200" y="3657600"/>
            <a:ext cx="4572000" cy="457200"/>
          </a:xfrm>
          <a:prstGeom prst="rect">
            <a:avLst/>
          </a:prstGeom>
          <a:noFill/>
          <a:ln/>
        </p:spPr>
        <p:txBody>
          <a:bodyPr wrap="square" lIns="0" tIns="0" rIns="0" bIns="0" rtlCol="0" anchor="t"/>
          <a:lstStyle/>
          <a:p>
            <a:pPr indent="0" marL="0">
              <a:buNone/>
            </a:pPr>
            <a:r>
              <a:rPr lang="en-US" sz="2800" b="1" dirty="0">
                <a:solidFill>
                  <a:schemeClr val="accent2"/>
                </a:solidFill>
                <a:latin typeface="Calibri" pitchFamily="34" charset="0"/>
                <a:ea typeface="Calibri" pitchFamily="34" charset="-122"/>
                <a:cs typeface="Calibri" pitchFamily="34" charset="-120"/>
              </a:rPr>
              <a:t>Thank you</a:t>
            </a:r>
            <a:endParaRPr lang="en-US" sz="2800" dirty="0"/>
          </a:p>
        </p:txBody>
      </p:sp>
      <p:sp>
        <p:nvSpPr>
          <p:cNvPr id="11" name="Questions"/>
          <p:cNvSpPr txBox="1"/>
          <p:nvPr/>
        </p:nvSpPr>
        <p:spPr>
          <a:xfrm>
            <a:off x="457200" y="4160520"/>
            <a:ext cx="4572000" cy="3200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Questions are welcome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E Technologies">
  <a:themeElements>
    <a:clrScheme name="ME Technologies">
      <a:dk1>
        <a:srgbClr val="0F2A1A"/>
      </a:dk1>
      <a:lt1>
        <a:srgbClr val="FFFFFF"/>
      </a:lt1>
      <a:dk2>
        <a:srgbClr val="334155"/>
      </a:dk2>
      <a:lt2>
        <a:srgbClr val="F1F8F3"/>
      </a:lt2>
      <a:accent1>
        <a:srgbClr val="15803D"/>
      </a:accent1>
      <a:accent2>
        <a:srgbClr val="F5B921"/>
      </a:accent2>
      <a:accent3>
        <a:srgbClr val="0F2A1A"/>
      </a:accent3>
      <a:accent4>
        <a:srgbClr val="9BBFA9"/>
      </a:accent4>
      <a:accent5>
        <a:srgbClr val="B45309"/>
      </a:accent5>
      <a:accent6>
        <a:srgbClr val="64748B"/>
      </a:accent6>
      <a:hlink>
        <a:srgbClr val="15803D"/>
      </a:hlink>
      <a:folHlink>
        <a:srgbClr val="64748B"/>
      </a:folHlink>
    </a:clrScheme>
    <a:fontScheme name="ME Technologi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Technologies Website and Admin Panel</dc:title>
  <dc:subject>PptxGenJS Presentation</dc:subject>
  <dc:creator>Amna</dc:creator>
  <cp:lastModifiedBy>Amna</cp:lastModifiedBy>
  <cp:revision>1</cp:revision>
  <dcterms:created xsi:type="dcterms:W3CDTF">2026-10-17T14:40:04Z</dcterms:created>
  <dcterms:modified xsi:type="dcterms:W3CDTF">2026-10-17T14:40:04Z</dcterms:modified>
</cp:coreProperties>
</file>